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28f9ba4efa4a25" /><Relationship Type="http://schemas.openxmlformats.org/officeDocument/2006/relationships/extended-properties" Target="/docProps/app.xml" Id="R373509bd21f94059" /><Relationship Type="http://schemas.openxmlformats.org/officeDocument/2006/relationships/officeDocument" Target="/ppt/presentation.xml" Id="R287ebd3dbfce4b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3d16d75e1246c6"/>
  </p:sldMasterIdLst>
  <p:notesMasterIdLst>
    <p:notesMasterId xmlns:r="http://schemas.openxmlformats.org/officeDocument/2006/relationships" r:id="Rb16e01ab923d41f4"/>
  </p:notesMasterIdLst>
  <p:sldIdLst>
    <p:sldId xmlns:r="http://schemas.openxmlformats.org/officeDocument/2006/relationships" id="256" r:id="Rb8a554cf3d984046"/>
    <p:sldId xmlns:r="http://schemas.openxmlformats.org/officeDocument/2006/relationships" id="257" r:id="R768408febd4b4e9b"/>
    <p:sldId xmlns:r="http://schemas.openxmlformats.org/officeDocument/2006/relationships" id="258" r:id="Rb2b83b0bd42742e5"/>
    <p:sldId xmlns:r="http://schemas.openxmlformats.org/officeDocument/2006/relationships" id="259" r:id="R9cd6afdea8cd4b04"/>
    <p:sldId xmlns:r="http://schemas.openxmlformats.org/officeDocument/2006/relationships" id="260" r:id="R3fd07b1d92344b66"/>
    <p:sldId xmlns:r="http://schemas.openxmlformats.org/officeDocument/2006/relationships" id="261" r:id="R28921a3b8ff340d3"/>
    <p:sldId xmlns:r="http://schemas.openxmlformats.org/officeDocument/2006/relationships" id="262" r:id="R74479f61cf5b4f08"/>
    <p:sldId xmlns:r="http://schemas.openxmlformats.org/officeDocument/2006/relationships" id="263" r:id="R067ef60d3600461f"/>
    <p:sldId xmlns:r="http://schemas.openxmlformats.org/officeDocument/2006/relationships" id="264" r:id="Ra7937077ec3f46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370b66e364ec1" /><Relationship Type="http://schemas.openxmlformats.org/officeDocument/2006/relationships/slideMaster" Target="/ppt/slideMasters/slideMaster1.xml" Id="R613d16d75e1246c6" /><Relationship Type="http://schemas.openxmlformats.org/officeDocument/2006/relationships/notesMaster" Target="/ppt/notesMasters/notesMaster1.xml" Id="Rb16e01ab923d41f4" /><Relationship Type="http://schemas.openxmlformats.org/officeDocument/2006/relationships/presProps" Target="/ppt/presProps.xml" Id="R553c8054683c47d8" /><Relationship Type="http://schemas.openxmlformats.org/officeDocument/2006/relationships/tableStyles" Target="/ppt/tableStyles.xml" Id="R11a7a03dddc0476a" /><Relationship Type="http://schemas.openxmlformats.org/officeDocument/2006/relationships/slide" Target="/ppt/slides/slide1.xml" Id="Rb8a554cf3d984046" /><Relationship Type="http://schemas.openxmlformats.org/officeDocument/2006/relationships/slide" Target="/ppt/slides/slide2.xml" Id="R768408febd4b4e9b" /><Relationship Type="http://schemas.openxmlformats.org/officeDocument/2006/relationships/slide" Target="/ppt/slides/slide3.xml" Id="Rb2b83b0bd42742e5" /><Relationship Type="http://schemas.openxmlformats.org/officeDocument/2006/relationships/slide" Target="/ppt/slides/slide4.xml" Id="R9cd6afdea8cd4b04" /><Relationship Type="http://schemas.openxmlformats.org/officeDocument/2006/relationships/slide" Target="/ppt/slides/slide5.xml" Id="R3fd07b1d92344b66" /><Relationship Type="http://schemas.openxmlformats.org/officeDocument/2006/relationships/slide" Target="/ppt/slides/slide6.xml" Id="R28921a3b8ff340d3" /><Relationship Type="http://schemas.openxmlformats.org/officeDocument/2006/relationships/slide" Target="/ppt/slides/slide7.xml" Id="R74479f61cf5b4f08" /><Relationship Type="http://schemas.openxmlformats.org/officeDocument/2006/relationships/slide" Target="/ppt/slides/slide8.xml" Id="R067ef60d3600461f" /><Relationship Type="http://schemas.openxmlformats.org/officeDocument/2006/relationships/slide" Target="/ppt/slides/slide9.xml" Id="Ra7937077ec3f46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a399b9799541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150566f6144f1" /><Relationship Type="http://schemas.openxmlformats.org/officeDocument/2006/relationships/notesMaster" Target="/ppt/notesMasters/notesMaster1.xml" Id="R930675152ff64a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294921a9da4c5b" /><Relationship Type="http://schemas.openxmlformats.org/officeDocument/2006/relationships/notesMaster" Target="/ppt/notesMasters/notesMaster1.xml" Id="R2f41ca7477c64a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5ebdc449b14b36" /><Relationship Type="http://schemas.openxmlformats.org/officeDocument/2006/relationships/notesMaster" Target="/ppt/notesMasters/notesMaster1.xml" Id="Rba66a909b0c34a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c82182b0524c0e" /><Relationship Type="http://schemas.openxmlformats.org/officeDocument/2006/relationships/notesMaster" Target="/ppt/notesMasters/notesMaster1.xml" Id="R27879503450b41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fc7fd2c0f242f2" /><Relationship Type="http://schemas.openxmlformats.org/officeDocument/2006/relationships/notesMaster" Target="/ppt/notesMasters/notesMaster1.xml" Id="R1c615ed96f1147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bed5544674498f" /><Relationship Type="http://schemas.openxmlformats.org/officeDocument/2006/relationships/notesMaster" Target="/ppt/notesMasters/notesMaster1.xml" Id="R3d673b3b782e40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5c4db30476456c" /><Relationship Type="http://schemas.openxmlformats.org/officeDocument/2006/relationships/notesMaster" Target="/ppt/notesMasters/notesMaster1.xml" Id="Rd1f801d2209644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d379ab499e43b3" /><Relationship Type="http://schemas.openxmlformats.org/officeDocument/2006/relationships/notesMaster" Target="/ppt/notesMasters/notesMaster1.xml" Id="R61fe6463a5e54b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77adfc8d29417e" /><Relationship Type="http://schemas.openxmlformats.org/officeDocument/2006/relationships/notesMaster" Target="/ppt/notesMasters/notesMaster1.xml" Id="R3d9ce2d301a045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context supplied by the team. Replace the three title-slide identity fields before supervisor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statement is based on the project brief supplied by the team and resolved_config.yaml.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ESA WorldCover 10 m 2021 documentation (https://esa-worldcover.org/en/data-access); internal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reflect the project brief, constrained to the current completed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Zanaga et al., ESA WorldCover 10 m 2020 v100 and 2021 v200. Earth System Science Data, 2022. Chen et al., Encoder-Decoder with Atrous Separable Convolution for Semantic Image Segmentation, ECCV 2018. Xie et al., SegFormer, NeurIPS 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dataset_manifest.json (36 regions, 13,033 accepted tiles, 1,979 rejected tiles, regional split); resolved_config.yaml.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history.csv and latest_metrics.json. Best mIoU occurs at epoch 18. Final metrics are reported at epoch 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evidence: dataset_stats.json and latest_metrics.json. The proposed causes after class imbalance are explicitly hypotheses for future diagnostic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based on completed experiment artifacts. Planned modules have not yet been represented as completed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680f4c2714b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792dc72e14d8e" /><Relationship Type="http://schemas.openxmlformats.org/officeDocument/2006/relationships/slideLayout" Target="/ppt/slideLayouts/slideLayout1.xml" Id="R68b1f399c1ff4c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b1f399c1ff4c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ca9e3253d4c5a" /><Relationship Type="http://schemas.openxmlformats.org/officeDocument/2006/relationships/notesSlide" Target="/ppt/notesSlides/notesSlide1.xml" Id="R19f8c8a051254a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259f5d6d24857" /><Relationship Type="http://schemas.openxmlformats.org/officeDocument/2006/relationships/notesSlide" Target="/ppt/notesSlides/notesSlide2.xml" Id="R1b7b119caec145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7054de8da4f02" /><Relationship Type="http://schemas.openxmlformats.org/officeDocument/2006/relationships/notesSlide" Target="/ppt/notesSlides/notesSlide3.xml" Id="R4575f661bc0d4e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78e1a3a844092" /><Relationship Type="http://schemas.openxmlformats.org/officeDocument/2006/relationships/notesSlide" Target="/ppt/notesSlides/notesSlide4.xml" Id="R1eff71a07ac348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4aba79bfe4a50" /><Relationship Type="http://schemas.openxmlformats.org/officeDocument/2006/relationships/notesSlide" Target="/ppt/notesSlides/notesSlide5.xml" Id="Rbcf6e25b642b4a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ebee67fa74cd7" /><Relationship Type="http://schemas.openxmlformats.org/officeDocument/2006/relationships/notesSlide" Target="/ppt/notesSlides/notesSlide6.xml" Id="R7a3ba19b199941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d7b6ed3cd43d2" /><Relationship Type="http://schemas.openxmlformats.org/officeDocument/2006/relationships/chart" Target="/ppt/slides/charts/chart1.xml" Id="R2410258e40fc40ab" /><Relationship Type="http://schemas.openxmlformats.org/officeDocument/2006/relationships/notesSlide" Target="/ppt/notesSlides/notesSlide7.xml" Id="Rd44073adce724c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f29c663764335" /><Relationship Type="http://schemas.openxmlformats.org/officeDocument/2006/relationships/notesSlide" Target="/ppt/notesSlides/notesSlide8.xml" Id="R4d5c3404568945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c1a94e33b4907" /><Relationship Type="http://schemas.openxmlformats.org/officeDocument/2006/relationships/notesSlide" Target="/ppt/notesSlides/notesSlide9.xml" Id="Rb3bd1099aae74cb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Validation mIoU</c:v>
          </c:tx>
          <c:spPr>
            <a:solidFill xmlns:a="http://schemas.openxmlformats.org/drawingml/2006/main">
              <a:srgbClr val="00A6A6"/>
            </a:solidFill>
          </c:spPr>
          <c:marker>
            <c:symbol val="none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28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0.4895</c:v>
                </c:pt>
                <c:pt idx="1">
                  <c:v>0.5144</c:v>
                </c:pt>
                <c:pt idx="2">
                  <c:v>0.5255</c:v>
                </c:pt>
                <c:pt idx="3">
                  <c:v>0.53</c:v>
                </c:pt>
                <c:pt idx="4">
                  <c:v>0.5404</c:v>
                </c:pt>
                <c:pt idx="5">
                  <c:v>0.5421</c:v>
                </c:pt>
                <c:pt idx="6">
                  <c:v>0.5475</c:v>
                </c:pt>
                <c:pt idx="7">
                  <c:v>0.5443</c:v>
                </c:pt>
                <c:pt idx="8">
                  <c:v>0.5425</c:v>
                </c:pt>
                <c:pt idx="9">
                  <c:v>0.5444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585F3-BED7-48AB-B4FC-A0CBABB2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A3573-6C85-4405-8A05-4A641824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EA98C-55A7-4648-A1FF-3632A4D7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CF4BC-E837-400E-8311-8FD4ACCF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AstraGuard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F55B8-5962-451C-9C71-230AA356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709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84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AI-powered satellite intelligence and disaster response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D951C-2134-499F-87AB-DCE044F3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B68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B684"/>
                </a:solidFill>
                <a:latin typeface="Aptos"/>
                <a:ea typeface="Aptos"/>
                <a:cs typeface="Aptos"/>
              </a:rPr>
              <a:t>Mid-term project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B9447-93FE-4E17-A846-B8C51052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 research module: land-cover segmentation from Sentinel-2 imagery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EBA40-911B-4CF9-98EE-49FDFA85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Prepared by: Group details to be added</a:t>
            </a:r>
          </a:p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Supervisor: To be added</a:t>
            </a:r>
          </a:p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Department: To be added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40699-490B-43C3-9636-C22CCA16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2743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Satellite data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Spatial learning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Actionable maps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3A798-01E0-4ACC-B6A7-E2EDE819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05300"/>
            <a:ext cx="274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55B84-6AC4-4224-A180-23657C0A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Madhya Pradesh study area</a:t>
            </a:r>
          </a:p>
        </p:txBody>
      </p:sp>
    </p:spTree>
    <p:extLst>
      <p:ext uri="{BB962C8B-B14F-4D97-AF65-F5344CB8AC3E}">
        <p14:creationId xmlns:p14="http://schemas.microsoft.com/office/powerpoint/2010/main" val="1165129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E008B-A023-4A16-B3FF-42395570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Problem context and mid-term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C52DA-0C88-4169-AF7D-96857344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4AF0A-99CF-4466-A046-52C35F7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705D9-2B0D-4145-97B5-BD911FDF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Earth-observation imagery is rich, but manual interpretation delays land monitoring and emergency assessment.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B5A4D-5DF4-48FB-B17B-B59DE81D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3337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FE43F-322D-45B6-BAD8-F37346AC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AstraGuard 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5BD23-1F02-40BB-BBEA-915CF16C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72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platform that turns satellite imagery into land maps, change signals, disaster cues, and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F36C3-EFC3-43CB-B8E9-03A88A5C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681037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81857-AEC0-4C4E-8061-3C9B6EC7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Mid-term deliverable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C6D5C-7228-4BF2-824D-4EA8A6A2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575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3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reproducible land-cover segmentation pipeline trained on Sentinel-2 imagery and ESA WorldCover labels across Madhya Pradesh.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F7207-D908-4699-8601-0F8DBE72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Inputs: 6 spectral bands  |  Output: pixel-level map with 6 classes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BEAD2-4311-4527-B2DF-5C08DAF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Land-cover segmentation is the first validated module. Object detection, change detection, disaster analysis, API, and dashboard remain planned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FC35A-0717-4D8C-80CC-7035D9AE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Project brief and completed experiment configuration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F926D-611E-4826-8332-934E380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05059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8A065-A8B5-4C74-8D55-DC206055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Problem statement and 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4C711-D4E3-48D4-B7DA-42050ACF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38FC9-218A-4358-8435-2BEC321B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3A5DF-A0C2-4A37-B238-0AED28D7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E13B6-C225-471A-B49E-FA6FCE19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44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How reliably can a six-band DeepLabV3+ model create pixel-level land-cover maps for geographically separated regions of Madhya Pradesh?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7BAD9-BAEF-4894-9585-C82E803D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8577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AB9F0-039E-4381-AE61-C3D8BF5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available maps provide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D2A34-CF40-4517-9BEB-FD11140E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Land-cover labels and broad regional coverage. They are useful supervision sources, but they do not provide a project-specific model, local validation, or an operational delivery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4CA12-DEE2-49AF-A953-922820B8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0350"/>
            <a:ext cx="52387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1DA8D-4EB8-4441-B585-A4510361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AstraGuard contribution at mid-term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13E15-B951-419F-8A1E-F934A850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regional, reproducible workflow with cloud-aware data preparation, spatial train/validation/test separation, a deep segmentation baseline, and class-wise evaluation.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F3AC2-AF9C-4CF2-B511-F486BD1E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Research gap: reliable local evaluation is needed before a land-cover model can support later change and disaster modules.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DB97C-F6A1-4715-8B2D-7872030D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Sources: ESA WorldCover product documentation; project experiment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B7826-2D68-474F-889C-82E2C2A7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649749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C1F18-75C0-4847-B8DD-4DDCB594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22563-4E01-4ECD-BE8F-DB403DC4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8E68F-43D1-41AA-9BB2-520BACFC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6B479-37F4-4515-868C-39E877D4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DAD22-1977-4592-89B0-833BCC26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1. Build the data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0EA8E-9487-4BDA-815E-06F83273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8859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Acquire Sentinel-2 imagery, remove unusable pixels, align ESA WorldCover labels, and tile the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61524-7428-4651-9C4D-10700C14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B68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2D7E7-A719-4520-862C-8D3B79BA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2. Establish a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622D9-BC50-4DCB-A214-9E8E84CE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859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Train a 6-band DeepLabV3+ ResNet-34 segmentation model with augmentation and mixed precision.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5EBFB-2D37-40C4-BDDB-EE826B56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AD301-1156-4568-B5A7-3A12914C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86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3. Evaluate honestly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F6334-698A-4EA6-9B2D-D1DA1F24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33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Use geographically separated validation and test regions with mIoU, macro-F1, class IoU, and area error.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38562-1D4E-424F-B660-956D01B8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C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B1921-67E1-4860-B940-F95FC4CE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86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4. Prepare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583D3-04CA-4535-A19B-EF718C13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33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Export maps and model artifacts for the AstraGuard backend, dashboard, and future change-analysis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E38F3-5A38-4F7B-992E-6AAE2648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Project objectives adapted to the implemented mid-term module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403B1-E7CB-49CE-9972-DF499F6C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222533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6F66C-A551-4E95-B1AD-B04B1FC3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Literature survey and baseline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EF78C-48DA-428D-ADE7-1313B397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3BBB5-BBA8-4CAA-BF63-4F9381B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898EE-B6BF-46F6-BBF9-023A03C2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Existing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B982B-0E43-4797-BA23-38475EF4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14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Why it matters to AstraGuard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0E45D-74A5-4FAA-A709-5B14B5B5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83683-F0B3-4672-9F9F-0B80F463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050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ESA WorldCover 2021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17FF7-A770-46A4-A4C4-D45D243D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431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C8C51-F4D1-4108-808F-702D0224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859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10 m global land-cover labels used as supervision for the regional training workflow.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BF948-8439-450F-9B12-C04BE9EE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67202-A1A6-43AB-B375-9ED9CD54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37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DeepLabV3+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53552-0BC8-463E-9C5E-2F6FCD33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6E114-5C76-44B3-82F4-730B705E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146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Encoder-decoder segmentation with atrous spatial pyramid pooling. Selected for the baseline.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57EE7-2F68-4B92-848C-B59F5344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05914-A4A1-47E8-8662-4E1F78E7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SegFormer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38701-2133-4F69-BEFB-103C1E7C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005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C1836-D6AC-49D9-8227-E63F4D00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43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Transformer segmentation architecture planned as the comparison model for the next experiment.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22930-771E-4472-8B78-2B34C1F8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Current design choice: DeepLabV3+ ResNet-34 is a strong, interpretable baseline. The project will compare it with SegFormer before claiming a preferred architecture.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DA2E6-57DF-4A5C-87A4-C9301665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Sources: Zanaga et al., 2022; Chen et al., 2018; Xie et al., 2021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A3B56-6A48-40C0-969F-C60E83B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2018369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BFD5B-5E3D-469A-B42D-2ADAF49D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Methodology and work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3757E-485A-4083-8DBF-BB867525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3EAA4-242C-4001-95B1-4612C71D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1CCD4-44D4-41F0-89CC-1FC40389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540DD-C4D8-4CDE-9EC8-63239C09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Satellite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7890A-889A-473A-95E6-3633847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Sentinel-2, 2021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B02, B03, B04, B08, B11, B12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675CE-337B-408B-8137-DCFAA92E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1B6F3-52D4-447E-938F-C8C314BF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F5D40-5794-4F55-BF84-1DDD0031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7DE05-24B8-4A65-BF62-A32FFB37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2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Cloud-aware filtering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256 x 256 tiles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95% valid-pixel threshold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2CEA0-C265-4138-B906-993E93A2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03E3F-0E7D-43E9-B6C7-BB583D06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C5ACF-CEF7-4B8E-BE3A-EE70B731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8A5AB-51E3-4E0F-B7AA-F0577654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DeepLabV3+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ResNet-34 encoder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6 classes, 16 batch 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D4795-46A6-4E37-A08B-FC7F46DF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7108C-5DC3-44AC-B3AE-AE000BC9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A0ECD-0703-484F-ADF4-11084DB6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918CC-2F9B-487A-A66A-9B776450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Geographic split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mIoU, macro-F1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class-wise IoU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BA512-22FD-4617-A71B-C156DF1B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3F312-9A9B-45AE-B490-6727F800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9365D4-1B12-472E-ACFF-B59EDC6B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B420E-80A4-442B-B733-285DC1E5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Checkpoints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metrics and logs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reproducible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68E9F-E251-490B-91FF-4A35E1A0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Dataset outcome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D6889-8C90-4443-A7E5-17485F74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36 regions: 26 train, 5 validation, 5 test. 13,033 accepted tiles and 1,979 rejected tiles. Geographic separation limits direct tile leakage across splits.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957825-65AA-48E2-BF0B-69833646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dataset_manifest.json and resolved_config.yaml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FAC4C-8D21-455F-BC61-9A2FFAD5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3500684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7E9C88-B0EF-451D-A0D6-4B2D689D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Preliminary 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EE46F-C055-4C1B-B7D8-A9F1DF64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9D055-4F25-4DE8-A504-8D9BC300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9923B-0093-4BAB-A9C7-C61CBD48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Best validation mIoU: 54.75% at epoch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1ACF7-8874-465C-A624-2336BD99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Final epoch 28: 88.97% overall accuracy, 54.44% mIoU, 65.17% macro-F1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647700" y="2286000"/>
          <a:ext xmlns:a="http://schemas.openxmlformats.org/drawingml/2006/main" cx="5810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10258e40fc40a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F5639-32E1-49F2-A692-E2325E96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95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Class-wise validation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D1338-BFA1-4DA4-8062-92FFF44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240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50543-B304-4702-B406-54686AB5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B68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0F009-2FA7-40BB-A9AA-38FD9C98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0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Agriculture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2F142-80E9-4366-9A06-B1897C72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86.37%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E5ED5-DA10-46A9-BD69-E231C600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2F307-24A6-43BA-AC02-66797161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0EBE8-6137-44CB-86D0-50523BD1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95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Natural vegetation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1E85B-CBDB-4B3E-B6BB-9F35EF9C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68.48%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6BA15-ADF4-47CB-A503-DCDA1E2B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08594-BE6E-4E06-BDD6-95544AB6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C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2F890-F0EE-4468-B28A-7D6DD9B7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F284B-CC94-41F2-B96C-F1B9E345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908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70.83%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21177-28AC-4012-B662-26B622C6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099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E2E46-48E1-451C-A6D6-5DE8E194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239773-BBE4-463D-B750-C985E36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Built-up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538DEE-6B17-4CBE-AEAF-BD52162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861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63.33%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5F2602-8896-4E7E-BBAA-E9080BC2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77585F-FF7C-4514-94EC-6B9E355A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C1585-3152-4EEC-9E4F-BC7565ED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81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Bare or sparse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CB5CC-6FDA-4FE8-9C68-86730711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35.43%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72597-8BD9-46A5-8767-306633BD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005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2BCFC-8B1C-446D-9A78-B979BFB8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75EEF-175C-426F-BB19-9DD66FA9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76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Other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B99725-1837-4878-A1A4-BE9953D0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2.17%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3738F9-639E-4A28-8050-63573F64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mIoU and macro-F1 are more informative than overall accuracy because the classes are highly imbalanced.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8A210C-96F5-4060-8EAC-AD9A0EBA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history.csv and latest_metrics.json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41657D-A415-46CA-A738-E53D778F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455908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42F62-6B58-4A7A-BBBA-273959FF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Accuracy diagnosis and corrective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4692C-5614-4361-8588-516F50BF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534E1-4D6B-4AC6-B49D-867F0476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72E7B-608E-4B5F-8648-A3F87425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BA83A-C5D5-4332-90FF-AACBBD87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Why overall accuracy is high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B4F43-7984-402E-99AA-BA1143AF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Agriculture accounts for 58.94% of pixels and natural vegetation for 37.70%. Together they cover 96.64% of labelled pixels.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6E775-0DD3-4E22-A117-C59D9721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87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rare “other” class has 2,195 pixels, or 0.00034% of the data. It has F1 4.25% and IoU 2.17%.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A7656-303D-40AC-90D5-E764026D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4C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4C4C"/>
                </a:solidFill>
                <a:latin typeface="Aptos"/>
                <a:ea typeface="Aptos"/>
                <a:cs typeface="Aptos"/>
              </a:rPr>
              <a:t>Largest confusion: natural vegetation predicted as agriculture: 7.48 million pixels.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301E6-7E18-4402-A100-9B12F6F4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09700"/>
            <a:ext cx="53149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4C71F-3895-4A58-8AD0-8DA48AC5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Next experiments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A41C1-8CA9-489B-A549-9C490C4E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4476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5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1. Stratify tiles and oversample rare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2. Tune focal or class-balanced loss and revise class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Compare DeepLabV3+ with SegFormer under the same geographic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4. Inspect label boundaries and seasonal spectral confusion.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0F78C-CF2D-48EE-9D1D-3D9748D6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1049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81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Interpretation: class imbalance is directly measured. The spectral-similarity and label-boundary explanations are hypotheses to test in the next experiment.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F6687-5D9C-4DE5-A2F2-22FBF8C5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dataset_stats.json and latest_metrics.json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295B7-44EE-42AE-BC58-D50BC70D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717227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325BA-A5F6-4B30-A235-48D512A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 and 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9F46B-BD78-48E2-8B33-D3591203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65E79-7EFD-4BA3-AF51-34A5117B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325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The land-cover module now has a reproducible regional dataset, training pipeline, and geographically separated validation. The current DeepLabV3+ baseline reaches 54.75% validation mIoU and exposes clear class-imbalance limits to address.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CDF0A-5048-4879-8CF1-9EA75723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66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89DC5-F410-4AF4-BD18-E74C13AF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8B68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8B684"/>
                </a:solidFill>
                <a:latin typeface="Aptos"/>
                <a:ea typeface="Aptos"/>
                <a:cs typeface="Aptos"/>
              </a:rPr>
              <a:t>Before final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87520-1B6D-4AE2-BB76-4473C18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the balanced-loss and SegFormer comparison, inspect class errors by region, then integrate the validated map output into the AstraGuard API and dashboard.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5209E-4E3E-49D0-B0E0-6C0EBA35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29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00B60-83B1-42C3-A196-A18F74ED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Questions and supervisor feedback</a:t>
            </a:r>
          </a:p>
        </p:txBody>
      </p:sp>
    </p:spTree>
    <p:extLst>
      <p:ext uri="{BB962C8B-B14F-4D97-AF65-F5344CB8AC3E}">
        <p14:creationId xmlns:p14="http://schemas.microsoft.com/office/powerpoint/2010/main" val="1536678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2026-09-27T09:19:02.7420000Z</dcterms:created>
  <dcterms:modified xsi:type="dcterms:W3CDTF">2026-09-27T09:19:02.7420000Z</dcterms:modified>
</coreProperties>
</file>