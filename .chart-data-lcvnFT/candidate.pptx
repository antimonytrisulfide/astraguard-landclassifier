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169cb9eb2a486f" /><Relationship Type="http://schemas.openxmlformats.org/officeDocument/2006/relationships/extended-properties" Target="/docProps/app.xml" Id="Re80a978af19048b5" /><Relationship Type="http://schemas.openxmlformats.org/officeDocument/2006/relationships/officeDocument" Target="/ppt/presentation.xml" Id="R1266abefdfb54d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d4bfdf041349fa"/>
  </p:sldMasterIdLst>
  <p:notesMasterIdLst>
    <p:notesMasterId xmlns:r="http://schemas.openxmlformats.org/officeDocument/2006/relationships" r:id="R6b70aca98dd440b2"/>
  </p:notesMasterIdLst>
  <p:sldIdLst>
    <p:sldId xmlns:r="http://schemas.openxmlformats.org/officeDocument/2006/relationships" id="256" r:id="Rcc10dec1fec04227"/>
    <p:sldId xmlns:r="http://schemas.openxmlformats.org/officeDocument/2006/relationships" id="257" r:id="Ra9c8d8b81bf74567"/>
    <p:sldId xmlns:r="http://schemas.openxmlformats.org/officeDocument/2006/relationships" id="258" r:id="Rc51a5bb4524845ab"/>
    <p:sldId xmlns:r="http://schemas.openxmlformats.org/officeDocument/2006/relationships" id="259" r:id="Rcbe8110548694f57"/>
    <p:sldId xmlns:r="http://schemas.openxmlformats.org/officeDocument/2006/relationships" id="260" r:id="R22139c3ef8854927"/>
    <p:sldId xmlns:r="http://schemas.openxmlformats.org/officeDocument/2006/relationships" id="261" r:id="R4b34bb59158d4a81"/>
    <p:sldId xmlns:r="http://schemas.openxmlformats.org/officeDocument/2006/relationships" id="262" r:id="R2f8daaf6d13646e1"/>
    <p:sldId xmlns:r="http://schemas.openxmlformats.org/officeDocument/2006/relationships" id="263" r:id="Rd2c5637be7064ab5"/>
    <p:sldId xmlns:r="http://schemas.openxmlformats.org/officeDocument/2006/relationships" id="264" r:id="Rd234c65899a340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bf761af8f243b1" /><Relationship Type="http://schemas.openxmlformats.org/officeDocument/2006/relationships/slideMaster" Target="/ppt/slideMasters/slideMaster1.xml" Id="R33d4bfdf041349fa" /><Relationship Type="http://schemas.openxmlformats.org/officeDocument/2006/relationships/notesMaster" Target="/ppt/notesMasters/notesMaster1.xml" Id="R6b70aca98dd440b2" /><Relationship Type="http://schemas.openxmlformats.org/officeDocument/2006/relationships/presProps" Target="/ppt/presProps.xml" Id="R049b15857dba4652" /><Relationship Type="http://schemas.openxmlformats.org/officeDocument/2006/relationships/tableStyles" Target="/ppt/tableStyles.xml" Id="Rb098512ac8c74fd2" /><Relationship Type="http://schemas.openxmlformats.org/officeDocument/2006/relationships/slide" Target="/ppt/slides/slide1.xml" Id="Rcc10dec1fec04227" /><Relationship Type="http://schemas.openxmlformats.org/officeDocument/2006/relationships/slide" Target="/ppt/slides/slide2.xml" Id="Ra9c8d8b81bf74567" /><Relationship Type="http://schemas.openxmlformats.org/officeDocument/2006/relationships/slide" Target="/ppt/slides/slide3.xml" Id="Rc51a5bb4524845ab" /><Relationship Type="http://schemas.openxmlformats.org/officeDocument/2006/relationships/slide" Target="/ppt/slides/slide4.xml" Id="Rcbe8110548694f57" /><Relationship Type="http://schemas.openxmlformats.org/officeDocument/2006/relationships/slide" Target="/ppt/slides/slide5.xml" Id="R22139c3ef8854927" /><Relationship Type="http://schemas.openxmlformats.org/officeDocument/2006/relationships/slide" Target="/ppt/slides/slide6.xml" Id="R4b34bb59158d4a81" /><Relationship Type="http://schemas.openxmlformats.org/officeDocument/2006/relationships/slide" Target="/ppt/slides/slide7.xml" Id="R2f8daaf6d13646e1" /><Relationship Type="http://schemas.openxmlformats.org/officeDocument/2006/relationships/slide" Target="/ppt/slides/slide8.xml" Id="Rd2c5637be7064ab5" /><Relationship Type="http://schemas.openxmlformats.org/officeDocument/2006/relationships/slide" Target="/ppt/slides/slide9.xml" Id="Rd234c65899a340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f9fd3f1b0a4a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538fea0ed34379" /><Relationship Type="http://schemas.openxmlformats.org/officeDocument/2006/relationships/notesMaster" Target="/ppt/notesMasters/notesMaster1.xml" Id="R147e7cb3aa8c45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2faa66c9604098" /><Relationship Type="http://schemas.openxmlformats.org/officeDocument/2006/relationships/notesMaster" Target="/ppt/notesMasters/notesMaster1.xml" Id="Rf9d71a4d168c48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32a4a31a0d4a56" /><Relationship Type="http://schemas.openxmlformats.org/officeDocument/2006/relationships/notesMaster" Target="/ppt/notesMasters/notesMaster1.xml" Id="Rc9018e73c12241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a75f2f8e7c42f9" /><Relationship Type="http://schemas.openxmlformats.org/officeDocument/2006/relationships/notesMaster" Target="/ppt/notesMasters/notesMaster1.xml" Id="R116569b377f046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c577b7569841b8" /><Relationship Type="http://schemas.openxmlformats.org/officeDocument/2006/relationships/notesMaster" Target="/ppt/notesMasters/notesMaster1.xml" Id="R32ca8b73c18a40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2b59143f7645e7" /><Relationship Type="http://schemas.openxmlformats.org/officeDocument/2006/relationships/notesMaster" Target="/ppt/notesMasters/notesMaster1.xml" Id="Rdc4ae8efaaea4e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1909f2524a45b2" /><Relationship Type="http://schemas.openxmlformats.org/officeDocument/2006/relationships/notesMaster" Target="/ppt/notesMasters/notesMaster1.xml" Id="R6d1d3b7e16dd43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efca259bac4883" /><Relationship Type="http://schemas.openxmlformats.org/officeDocument/2006/relationships/notesMaster" Target="/ppt/notesMasters/notesMaster1.xml" Id="R97ee719a5e534a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e03b6e8dfc414e" /><Relationship Type="http://schemas.openxmlformats.org/officeDocument/2006/relationships/notesMaster" Target="/ppt/notesMasters/notesMaster1.xml" Id="Ra3e1ebda4e4e4a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context supplied by the team. Replace the three title-slide identity fields before supervisor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 statement is based on the project brief supplied by the team and resolved_config.yaml.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ESA WorldCover 10 m 2021 documentation (https://esa-worldcover.org/en/data-access); internal experiment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Objectives reflect the project brief, constrained to the current completed module.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References: Zanaga et al., ESA WorldCover 10 m 2020 v100 and 2021 v200. Earth System Science Data, 2022. Chen et al., Encoder-Decoder with Atrous Separable Convolution for Semantic Image Segmentation, ECCV 2018. Xie et al., SegFormer, NeurIPS 2021.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dataset_manifest.json (36 regions, 13,033 accepted tiles, 1,979 rejected tiles, regional split); resolved_config.yaml.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history.csv and latest_metrics.json. Best mIoU occurs at epoch 18. Final metrics are reported at epoch 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evidence: dataset_stats.json and latest_metrics.json. The proposed causes after class imbalance are explicitly hypotheses for future diagnostic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based on completed experiment artifacts. Planned modules have not yet been represented as completed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0cc397c4fd45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8376653613457a" /><Relationship Type="http://schemas.openxmlformats.org/officeDocument/2006/relationships/slideLayout" Target="/ppt/slideLayouts/slideLayout1.xml" Id="R8dce3dc71e3545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ce3dc71e3545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b73e44c2545fd" /><Relationship Type="http://schemas.openxmlformats.org/officeDocument/2006/relationships/notesSlide" Target="/ppt/notesSlides/notesSlide1.xml" Id="R43b6a46568b84a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fefd19b3f40d0" /><Relationship Type="http://schemas.openxmlformats.org/officeDocument/2006/relationships/notesSlide" Target="/ppt/notesSlides/notesSlide2.xml" Id="Redf186e0a51941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85a7d09804b01" /><Relationship Type="http://schemas.openxmlformats.org/officeDocument/2006/relationships/notesSlide" Target="/ppt/notesSlides/notesSlide3.xml" Id="R55a8118c12214d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92d9db1e34d50" /><Relationship Type="http://schemas.openxmlformats.org/officeDocument/2006/relationships/notesSlide" Target="/ppt/notesSlides/notesSlide4.xml" Id="Rdae8b2d38d3441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9726f8a034953" /><Relationship Type="http://schemas.openxmlformats.org/officeDocument/2006/relationships/notesSlide" Target="/ppt/notesSlides/notesSlide5.xml" Id="R9fd0f2810fc24e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65f0dccf04f9e" /><Relationship Type="http://schemas.openxmlformats.org/officeDocument/2006/relationships/notesSlide" Target="/ppt/notesSlides/notesSlide6.xml" Id="R08cebe619ad744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84524d47f493a" /><Relationship Type="http://schemas.openxmlformats.org/officeDocument/2006/relationships/chart" Target="/ppt/slides/charts/chart1.xml" Id="Reb9374e0e71948ac" /><Relationship Type="http://schemas.openxmlformats.org/officeDocument/2006/relationships/notesSlide" Target="/ppt/notesSlides/notesSlide7.xml" Id="R52d6536e279143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3e3fc3bff4483" /><Relationship Type="http://schemas.openxmlformats.org/officeDocument/2006/relationships/notesSlide" Target="/ppt/notesSlides/notesSlide8.xml" Id="R2fdf4fe0e7404c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4ebe49d2144c6" /><Relationship Type="http://schemas.openxmlformats.org/officeDocument/2006/relationships/notesSlide" Target="/ppt/notesSlides/notesSlide9.xml" Id="R342c309cbaff41b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Validation mIoU</c:v>
          </c:tx>
          <c:spPr>
            <a:solidFill xmlns:a="http://schemas.openxmlformats.org/drawingml/2006/main">
              <a:srgbClr val="00A6A6"/>
            </a:solidFill>
          </c:spPr>
          <c:marker>
            <c:symbol val="none"/>
          </c:marker>
          <c:cat>
            <c:numRef>
              <c:f>'Chart Data'!$A$2:$A$11</c:f>
              <c:numCache>
                <c:formatCode>General</c:formatCode>
                <c:ptCount val="10"/>
                <c:pt idx="0">
                  <c:v>1</c:v>
                </c:pt>
                <c:pt idx="1">
                  <c:v>4</c:v>
                </c:pt>
                <c:pt idx="2">
                  <c:v>7</c:v>
                </c:pt>
                <c:pt idx="3">
                  <c:v>10</c:v>
                </c:pt>
                <c:pt idx="4">
                  <c:v>13</c:v>
                </c:pt>
                <c:pt idx="5">
                  <c:v>16</c:v>
                </c:pt>
                <c:pt idx="6">
                  <c:v>18</c:v>
                </c:pt>
                <c:pt idx="7">
                  <c:v>21</c:v>
                </c:pt>
                <c:pt idx="8">
                  <c:v>24</c:v>
                </c:pt>
                <c:pt idx="9">
                  <c:v>28</c:v>
                </c:pt>
              </c:numCache>
            </c:num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0.4895</c:v>
                </c:pt>
                <c:pt idx="1">
                  <c:v>0.5144</c:v>
                </c:pt>
                <c:pt idx="2">
                  <c:v>0.5255</c:v>
                </c:pt>
                <c:pt idx="3">
                  <c:v>0.53</c:v>
                </c:pt>
                <c:pt idx="4">
                  <c:v>0.5404</c:v>
                </c:pt>
                <c:pt idx="5">
                  <c:v>0.5421</c:v>
                </c:pt>
                <c:pt idx="6">
                  <c:v>0.5475</c:v>
                </c:pt>
                <c:pt idx="7">
                  <c:v>0.5443</c:v>
                </c:pt>
                <c:pt idx="8">
                  <c:v>0.5425</c:v>
                </c:pt>
                <c:pt idx="9">
                  <c:v>0.5444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DC618-FF09-4580-9926-07A1C256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9E9CF-F0BB-40D7-976C-D3E0AB38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19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34595-63E0-4C79-980E-D13F6F3D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8D510-1C73-4D25-8E64-68F9CF72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695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AstraGuard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F50C3-F7AD-4FD0-8FF0-C52DAD82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7096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684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AI-powered satellite intelligence and disaster response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50083-A3EB-42CC-B38B-6FDD5089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8B68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8B684"/>
                </a:solidFill>
                <a:latin typeface="Aptos"/>
                <a:ea typeface="Aptos"/>
                <a:cs typeface="Aptos"/>
              </a:rPr>
              <a:t>Mid-term project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20215-2B8F-4ABA-A8A4-04CF2C59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Completed research module: land-cover segmentation from Sentinel-2 imagery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8752A-E3C4-4E5B-A694-DF370128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Prepared by: Group details to be added</a:t>
            </a:r>
          </a:p>
          <a:p xmlns:a="http://schemas.openxmlformats.org/drawingml/2006/main">
            <a:pPr>
              <a:defRPr sz="12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Supervisor: To be added</a:t>
            </a:r>
          </a:p>
          <a:p xmlns:a="http://schemas.openxmlformats.org/drawingml/2006/main">
            <a:pPr>
              <a:defRPr sz="12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Department: To be added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7F34F-5CB2-4104-A87B-689EC76A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81150"/>
            <a:ext cx="2743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Satellite data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Spatial learning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Actionable maps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4793F-1D15-4D1E-A607-FEB567B1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05300"/>
            <a:ext cx="274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E108D-14C1-42E3-AE4E-A393BB54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Madhya Pradesh study area</a:t>
            </a:r>
          </a:p>
        </p:txBody>
      </p:sp>
    </p:spTree>
    <p:extLst>
      <p:ext uri="{BB962C8B-B14F-4D97-AF65-F5344CB8AC3E}">
        <p14:creationId xmlns:p14="http://schemas.microsoft.com/office/powerpoint/2010/main" val="11731657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CBB51-7DCC-40F0-BBAE-1FF6D88B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Problem context and mid-term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268EB-B61C-4E26-A4E0-617A3AE3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27AD4-B9E1-475B-9443-B0419DFA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A2FC1-8370-4C84-A59A-BD8DED82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Earth-observation imagery is rich, but manual interpretation delays land monitoring and emergency assessment.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85C23-90CE-4D6B-912D-85E3145E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33337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75889-7D49-41C0-B43A-9B9C98E3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AstraGuard vision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2FFB5-057A-412B-A02F-D859CF9C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72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platform that turns satellite imagery into land maps, change signals, disaster cues, and reports.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84B3B-3AB8-4D8D-9334-722E067D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43150"/>
            <a:ext cx="6810375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B2949-FC62-4264-8AFB-A286A45F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Mid-term deliverable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11231-F4BF-4B2F-BD54-1F705955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5753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431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reproducible land-cover segmentation pipeline trained on Sentinel-2 imagery and ESA WorldCover labels across Madhya Pradesh.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91DF6-95C7-4529-B73C-91FC6035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576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Inputs: 6 spectral bands  |  Output: pixel-level map with 6 classes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13DA7-467E-4E7B-BCD5-C4FBA9B4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51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Land-cover segmentation is the first validated module. Object detection, change detection, disaster analysis, API, and dashboard remain planned 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6C9FB9-78E5-4F90-A4B4-12F649BD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Source: Project brief and completed experiment configuration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3873B-F568-4570-B8E8-FEC942AA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4758505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19E700-C53A-4428-8D6B-CE961B33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Research gap and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7608F-6268-4431-A3E6-095C29D2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E3DF5-6F92-4F59-B09F-9AA90014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984A2-10A7-41C2-96D3-24C3A801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Research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BEF35-5E8A-4DDF-81BC-A1745256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44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How reliably can a six-band DeepLabV3+ model create pixel-level land-cover maps for geographically separated regions of Madhya Pradesh?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DAABA-3F53-4F45-9078-ACB46070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485775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A2D0F-0345-42BA-887F-1EA640A8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available maps provide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A5481-3A8E-412B-A0C5-B4275814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Land-cover labels and broad regional coverage. They are useful supervision sources, but they do not provide a project-specific model, local validation, or an operational delivery pipeline.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6563A-0E13-46A9-B60C-03ECDB62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00350"/>
            <a:ext cx="523875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1A35F-7017-415F-9915-C62D7EE7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AstraGuard contribution at mid-term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FC2D87-D571-473C-917E-D838A705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045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regional, reproducible workflow with cloud-aware data preparation, spatial train/validation/test separation, a deep segmentation baseline, and class-wise evaluation.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F3D2A-B50B-4A50-AA32-712768C2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Research gap: reliable local evaluation is needed before a land-cover model can support later change and disaster modules.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01F2CE-1744-429F-BAD5-34BA9DD8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Sources: ESA WorldCover product documentation; project experiment artifacts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13088B-18D7-4350-9430-9D55FF36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18657603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5BFAD-94D6-4474-A535-F424E2FE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1D863-8564-4BEA-8ACB-5C163BE3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3A98D-CA25-4C0B-AFC5-E0856DA1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C3FBE-2DD1-4982-8EE1-4F7A20A7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0F04C-BAF1-41EF-AE7A-B288A784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6383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1. Build the data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C4EA2-EBEF-46D6-A3AC-E8D1E95C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962150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Acquire Sentinel-2 imagery, remove unusable pixels, align ESA WorldCover labels, and tile the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849B9-7D22-469D-A642-7867A11F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B68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AFD4D-A6B6-4A36-9070-EDC9D1BD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6383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2. Establish a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2698E-A81E-400C-B249-78EFE3F3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962150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Train a 6-band DeepLabV3+ ResNet-34 segmentation model with augmentation and mixed precision.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D26F7-859B-4492-82BD-51D8ACEF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33F8F-5AA2-4C18-8ECF-E27BE791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4861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3. Evaluate honestly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0A9D9-F521-496D-B70E-7577D3D9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810000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Use geographically separated validation and test regions with mIoU, macro-F1, class IoU, and area error.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2C9D6E-0206-4228-AFB1-6DB32037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7CA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B41BA-0FCB-4C30-A8FE-461C1457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861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4. Prepare integration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D28AC-8D1F-4224-A4DD-64C4F1F9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810000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Export maps and model artifacts for the AstraGuard backend, dashboard, and future change-analysis workflow.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0E505B-B3D4-4FE5-8C58-8D264C60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Source: Project objectives adapted to the implemented mid-term module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D02D72-6EBE-4160-8F96-7CB801E9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17691325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4349B-A4C4-4DB6-AF60-22D588D8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Literature survey and baseline choice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A9FA3-41E8-4363-A9F5-6AB7DBD0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87308-252E-418B-B277-08DBFB6E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EC949-2BC4-41FB-813C-81D71F5E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Existing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84AE6-4DEB-49B4-8B07-1AB9F3EC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14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Why it matters to AstraGuard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D8D5D-9241-499D-B79C-78EA82FF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45910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D19F2-FFD8-42C5-8C55-7A103E42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050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ESA WorldCover 2021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53A3E-28A7-4390-B3AB-FB541C05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43100"/>
            <a:ext cx="546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36DB9-4470-4B02-8285-8308BEF4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859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10 m global land-cover labels used as supervision for the regional training workflow.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7ABA53-CAA8-41DC-B24A-A5526924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45910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5D4BE-600C-4739-A4D9-2A6314B7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337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DeepLabV3+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2A697-C1EC-477D-86E2-2CC3BD13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71800"/>
            <a:ext cx="546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3520B-955C-4A03-AC84-D47E7EEA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146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Encoder-decoder segmentation with atrous spatial pyramid pooling. Selected for the baseline.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03FB2-0669-46BE-81E2-C6DB0684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45910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45D106-E179-4CA7-97C7-7AD7AED3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624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SegFormer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773AA-81C5-4966-B291-16D3EDFD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00500"/>
            <a:ext cx="546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40F6D2-C57B-4558-841F-8A132457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433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Transformer segmentation architecture planned as the comparison model for the next experiment.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A8B3DD-D539-4F8F-A042-DDB364DD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Current design choice: DeepLabV3+ ResNet-34 is a strong, interpretable baseline. The project will compare it with SegFormer before claiming a preferred architecture.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85F528-8B93-4119-97AD-9CDA678E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Sources: Zanaga et al., 2022; Chen et al., 2018; Xie et al., 2021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013628-D543-4433-8CD8-A84415FC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17127333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CD7D4D-1A1C-4E68-B769-3D9F9ACB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Methodology and work completed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B820C-7F2A-42AA-8E06-89E0A342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952CA-8521-4B81-BCD2-B31E06C0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9FB84-3AA7-4DDC-A1DB-67BF29E2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1809750" cy="1866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2E7EF-BDCC-424E-98C7-E77B3A79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Satellite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5ED4B-1F4A-4D82-98EE-DC40A5ED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Sentinel-2, 2021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B02, B03, B04, B08, B11, B12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D9578-D185-482C-899E-4EB450F5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6289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E2564-66F5-4895-8931-72FC8923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62150"/>
            <a:ext cx="1809750" cy="1866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B5FB7-FB74-4F7E-BF94-BB81E284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90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Preparation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23A61-A135-4BD8-9A59-4A331551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6700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2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Cloud-aware filtering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256 x 256 tiles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95% valid-pixel threshold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E329F-8997-40B1-8AAA-29DE3A7B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6289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F4E85-5F6B-48A9-B8E7-CDA5ADCD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62150"/>
            <a:ext cx="1809750" cy="1866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0429C-CBFC-4962-857F-DA3B933C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3213D-0E4F-44AD-BA14-41B440A9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DeepLabV3+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ResNet-34 encoder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6 classes, 16 batch size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84D227-62B2-4698-B565-4DB5EDDD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6289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7C3461-0C1B-4056-85A2-DA1FB800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62150"/>
            <a:ext cx="1809750" cy="1866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467FA0-5710-4721-A602-6C440CA8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A03F24-134A-46AB-AFF3-783A7FE1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6700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Geographic split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mIoU, macro-F1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class-wise IoU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55042B-2C72-46D2-96AC-4A8391CD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289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5BE385-4A38-48AC-B36C-98BF4A35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62150"/>
            <a:ext cx="1809750" cy="1866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00A5EA-38C1-46A2-B955-71B81EE6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90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66E941-B319-42B5-9D8C-C307AC96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6700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Checkpoints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metrics and logs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reproducible config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1C1677-2A0C-4437-B2E6-7DFBD9A6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Dataset outcome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4788A3-D99D-4712-91BC-B28A7BB8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36 regions: 26 train, 5 validation, 5 test. 13,033 accepted tiles and 1,979 rejected tiles. Geographic separation limits direct tile leakage across splits.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C40959-C865-4D12-9869-D71171A1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Source: dataset_manifest.json and resolved_config.yaml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C99E64-40C4-4165-B320-E20BFB9B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1680732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94F347-FA9C-4578-8210-B2DC02BF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Preliminary validation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6340D-C862-4D19-B3A2-AFF91626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7716B-1DC8-4B74-A69E-50624052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55796-823E-4D33-A7EF-0B1E1E8D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Best validation mIoU: 54.75% at epoch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89B01-3E4D-40D7-94EC-722004E7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623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Final epoch 28: 88.97% overall accuracy, 54.44% mIoU, 65.17% macro-F1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647700" y="2286000"/>
          <a:ext xmlns:a="http://schemas.openxmlformats.org/drawingml/2006/main" cx="5810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9374e0e71948a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4A949-6872-4121-9769-EE8B22F0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2954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Class-wise validation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9E778-818C-4B28-98CD-701B330B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24050"/>
            <a:ext cx="3695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D4F1C-D3F4-4F0C-B28A-9A1855D0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383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B68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A61BE-5005-4145-8FFB-863E9D04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00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Agriculture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39B39-8350-47FC-A35C-7ADD07B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002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IoU 86.37%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D4D3BB-7233-4FBC-89D2-874B1F3B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19350"/>
            <a:ext cx="3695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E9E67-55E6-4972-A240-EEEE614B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336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D03E5D-AF4F-42FE-A3DC-F91B9F50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95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Natural vegetation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70465F-0BCC-47B7-9CAD-A9BB2880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955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IoU 68.48%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11039E-DC14-483B-8BD0-9F7AFF88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14650"/>
            <a:ext cx="3695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6420DE-DEFF-42DD-9F35-F7B462C8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7CA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BC6C7A-210B-4BEC-B934-3E5DF7BD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90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Water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F178BC-C8A1-45D9-AE88-74395C92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908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IoU 70.83%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CAC06-0BFB-4BAB-829C-5AC298E9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09950"/>
            <a:ext cx="3695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5B9A42-0C10-49B5-AF88-C8B60F50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242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331569-7705-410C-A50E-6FEB83BE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86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Built-up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8994FA-FF2E-49BD-B95F-15CF45B0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861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IoU 63.33%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7D5B05-09EE-48E6-9C02-ACAE3B77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05250"/>
            <a:ext cx="3695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77BE82-2C66-4F74-B510-0AC02D35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95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C4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3A2B96-815C-460E-9D7A-32B8EBF1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81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Bare or sparse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BE2C95-622F-49FD-B2A1-EB4D1E16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814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IoU 35.43%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2976F6-EB58-4052-9296-F97C624D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00550"/>
            <a:ext cx="3695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E55629-009F-4E7C-BB62-DB693DF6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148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C4C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FC641E-7317-4D1D-8EDA-5DC1F961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76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Other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752F4F-F49B-41C2-B396-F060380A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IoU 2.17%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5E1FC3-1151-461B-9B51-F514D4ED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mIoU and macro-F1 are more informative than overall accuracy because the classes are highly imbalanced.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5161B0-1014-47BB-A57B-72BF4B78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Source: history.csv and latest_metrics.json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1F0FE4-72BE-4FF3-B58C-087472BA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11368497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5024F3-8138-4758-92A6-AF756EDD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Accuracy diagnosis and corrective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F992C-C9D6-468A-AD21-7511A65A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798E9-B99C-459F-A717-F229D54C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B61A8-43AF-4973-881B-27AD31EA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4762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56932-F056-46F6-AF42-7B97BD89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Why overall accuracy is high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D5763-9923-45DE-985A-802A38A4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4057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2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Agriculture accounts for 58.94% of pixels and natural vegetation for 37.70%. Together they cover 96.64% of labelled pixels.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28742-35B4-4582-A81D-2E4E607F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871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rare “other” class has 2,195 pixels, or 0.00034% of the data. It has F1 4.25% and IoU 2.17%.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AF615-F6F4-450B-AB7F-FA5BB2D1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4C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94C4C"/>
                </a:solidFill>
                <a:latin typeface="Aptos"/>
                <a:ea typeface="Aptos"/>
                <a:cs typeface="Aptos"/>
              </a:rPr>
              <a:t>Largest confusion: natural vegetation predicted as agriculture: 7.48 million pixels.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9A12A-8231-4792-8337-0C163A94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09700"/>
            <a:ext cx="53149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370FB2-D70E-4FA6-9A35-9EE3F3A2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Next experiments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146DA-DEA0-4BCA-BB84-75600564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28850"/>
            <a:ext cx="4476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5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1. Stratify tiles and oversample rare classes.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2. Tune focal or class-balanced loss and revise class weights.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3. Compare DeepLabV3+ with SegFormer under the same geographic split.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4. Inspect label boundaries and seasonal spectral confusion.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15ABCE-9046-4BDC-9505-5C6E9B8C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1049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881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Interpretation: class imbalance is directly measured. The spectral-similarity and label-boundary explanations are hypotheses to test in the next experiment.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125461-E968-47BE-A805-E5B2913D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Source: dataset_stats.json and latest_metrics.json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587F4-6E28-44F9-90F5-4D350A44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4756461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C6A88-6AA1-4F73-973D-8C5589E8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Conclusion and next milestone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98F32-3DA7-47B4-852E-61AFA295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723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8A96A-3CDD-445B-B5F1-9C0F6FDD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0325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333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The land-cover module now has a reproducible regional dataset, training pipeline, and geographically separated validation. The current DeepLabV3+ baseline reaches 54.75% validation mIoU and exposes clear class-imbalance limits to address.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106D7-0041-4A55-9744-4F1D91B8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66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4C0AF-10B2-43C0-8744-2BD0156A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8B68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8B684"/>
                </a:solidFill>
                <a:latin typeface="Aptos"/>
                <a:ea typeface="Aptos"/>
                <a:cs typeface="Aptos"/>
              </a:rPr>
              <a:t>Before final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2FA03-ED40-4884-8E1A-2709D7F6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Run the balanced-loss and SegFormer comparison, inspect class errors by region, then integrate the validated map output into the AstraGuard API and dashboard.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207AF-062C-41B9-B6AB-B3F083A0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29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2588D-285F-4C1C-864A-6FF913F6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Questions and supervisor feedback</a:t>
            </a:r>
          </a:p>
        </p:txBody>
      </p:sp>
    </p:spTree>
    <p:extLst>
      <p:ext uri="{BB962C8B-B14F-4D97-AF65-F5344CB8AC3E}">
        <p14:creationId xmlns:p14="http://schemas.microsoft.com/office/powerpoint/2010/main" val="11343555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2026-09-27T09:21:44.2910000Z</dcterms:created>
  <dcterms:modified xsi:type="dcterms:W3CDTF">2026-09-27T09:21:44.2910000Z</dcterms:modified>
</coreProperties>
</file>