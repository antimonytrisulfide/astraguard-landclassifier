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4c3f77ad484d91" /><Relationship Type="http://schemas.openxmlformats.org/officeDocument/2006/relationships/extended-properties" Target="/docProps/app.xml" Id="R70afc23a00f6449c" /><Relationship Type="http://schemas.openxmlformats.org/officeDocument/2006/relationships/officeDocument" Target="/ppt/presentation.xml" Id="R9d58b28d78a743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83ae70ab434ef3"/>
  </p:sldMasterIdLst>
  <p:notesMasterIdLst>
    <p:notesMasterId xmlns:r="http://schemas.openxmlformats.org/officeDocument/2006/relationships" r:id="Rf672916b9ce24a9d"/>
  </p:notesMasterIdLst>
  <p:sldIdLst>
    <p:sldId xmlns:r="http://schemas.openxmlformats.org/officeDocument/2006/relationships" id="256" r:id="R77c8a0f9bd8a4544"/>
    <p:sldId xmlns:r="http://schemas.openxmlformats.org/officeDocument/2006/relationships" id="257" r:id="R56209b87cf3548c7"/>
    <p:sldId xmlns:r="http://schemas.openxmlformats.org/officeDocument/2006/relationships" id="258" r:id="R1093ba8804724f0e"/>
    <p:sldId xmlns:r="http://schemas.openxmlformats.org/officeDocument/2006/relationships" id="259" r:id="R91bf0fd3fcc84b87"/>
    <p:sldId xmlns:r="http://schemas.openxmlformats.org/officeDocument/2006/relationships" id="260" r:id="R60de69d7c68b4e44"/>
    <p:sldId xmlns:r="http://schemas.openxmlformats.org/officeDocument/2006/relationships" id="261" r:id="R7c12c158210d4d5b"/>
    <p:sldId xmlns:r="http://schemas.openxmlformats.org/officeDocument/2006/relationships" id="262" r:id="R6390c2d41be543f8"/>
    <p:sldId xmlns:r="http://schemas.openxmlformats.org/officeDocument/2006/relationships" id="263" r:id="R690dcc9e017e4d58"/>
    <p:sldId xmlns:r="http://schemas.openxmlformats.org/officeDocument/2006/relationships" id="264" r:id="Ra0f1bd923d174c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628ede1e9743bc" /><Relationship Type="http://schemas.openxmlformats.org/officeDocument/2006/relationships/slideMaster" Target="/ppt/slideMasters/slideMaster1.xml" Id="Rf883ae70ab434ef3" /><Relationship Type="http://schemas.openxmlformats.org/officeDocument/2006/relationships/notesMaster" Target="/ppt/notesMasters/notesMaster1.xml" Id="Rf672916b9ce24a9d" /><Relationship Type="http://schemas.openxmlformats.org/officeDocument/2006/relationships/presProps" Target="/ppt/presProps.xml" Id="R30d0bc33195a408b" /><Relationship Type="http://schemas.openxmlformats.org/officeDocument/2006/relationships/tableStyles" Target="/ppt/tableStyles.xml" Id="Recc3892eb1f54913" /><Relationship Type="http://schemas.openxmlformats.org/officeDocument/2006/relationships/slide" Target="/ppt/slides/slide1.xml" Id="R77c8a0f9bd8a4544" /><Relationship Type="http://schemas.openxmlformats.org/officeDocument/2006/relationships/slide" Target="/ppt/slides/slide2.xml" Id="R56209b87cf3548c7" /><Relationship Type="http://schemas.openxmlformats.org/officeDocument/2006/relationships/slide" Target="/ppt/slides/slide3.xml" Id="R1093ba8804724f0e" /><Relationship Type="http://schemas.openxmlformats.org/officeDocument/2006/relationships/slide" Target="/ppt/slides/slide4.xml" Id="R91bf0fd3fcc84b87" /><Relationship Type="http://schemas.openxmlformats.org/officeDocument/2006/relationships/slide" Target="/ppt/slides/slide5.xml" Id="R60de69d7c68b4e44" /><Relationship Type="http://schemas.openxmlformats.org/officeDocument/2006/relationships/slide" Target="/ppt/slides/slide6.xml" Id="R7c12c158210d4d5b" /><Relationship Type="http://schemas.openxmlformats.org/officeDocument/2006/relationships/slide" Target="/ppt/slides/slide7.xml" Id="R6390c2d41be543f8" /><Relationship Type="http://schemas.openxmlformats.org/officeDocument/2006/relationships/slide" Target="/ppt/slides/slide8.xml" Id="R690dcc9e017e4d58" /><Relationship Type="http://schemas.openxmlformats.org/officeDocument/2006/relationships/slide" Target="/ppt/slides/slide9.xml" Id="Ra0f1bd923d174c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81efa2c37347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72d3b94d6841f1" /><Relationship Type="http://schemas.openxmlformats.org/officeDocument/2006/relationships/notesMaster" Target="/ppt/notesMasters/notesMaster1.xml" Id="Rbba29fc442b144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b0e93e7b8f4db9" /><Relationship Type="http://schemas.openxmlformats.org/officeDocument/2006/relationships/notesMaster" Target="/ppt/notesMasters/notesMaster1.xml" Id="R67f397a4810b4e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3a42bbb174270" /><Relationship Type="http://schemas.openxmlformats.org/officeDocument/2006/relationships/notesMaster" Target="/ppt/notesMasters/notesMaster1.xml" Id="R91f763de16974b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fc7f25ebed4cdb" /><Relationship Type="http://schemas.openxmlformats.org/officeDocument/2006/relationships/notesMaster" Target="/ppt/notesMasters/notesMaster1.xml" Id="R01309c974bd9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15e160e0b64df0" /><Relationship Type="http://schemas.openxmlformats.org/officeDocument/2006/relationships/notesMaster" Target="/ppt/notesMasters/notesMaster1.xml" Id="R0273e4e05fcc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e41c5d6a9b4692" /><Relationship Type="http://schemas.openxmlformats.org/officeDocument/2006/relationships/notesMaster" Target="/ppt/notesMasters/notesMaster1.xml" Id="R97facb0aca354f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838436af82438f" /><Relationship Type="http://schemas.openxmlformats.org/officeDocument/2006/relationships/notesMaster" Target="/ppt/notesMasters/notesMaster1.xml" Id="R0b0383f8d92e42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7434f76de41fa" /><Relationship Type="http://schemas.openxmlformats.org/officeDocument/2006/relationships/notesMaster" Target="/ppt/notesMasters/notesMaster1.xml" Id="Rfffee4ea46754f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699370a25e4a88" /><Relationship Type="http://schemas.openxmlformats.org/officeDocument/2006/relationships/notesMaster" Target="/ppt/notesMasters/notesMaster1.xml" Id="R54e9c9c81ca64c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context supplied by the team. Replace the three title-slide identity fields before supervisor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statement is based on the project brief supplied by the team and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ESA WorldCover 10 m 2021 documentation (https://esa-worldcover.org/en/data-access); internal experiment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reflect the project brief, constrained to the current completed module.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References: Zanaga et al., ESA WorldCover 10 m 2020 v100 and 2021 v200. Earth System Science Data, 2022. Chen et al., Encoder-Decoder with Atrous Separable Convolution for Semantic Image Segmentation, ECCV 2018. Xie et al., SegFormer, NeurIPS 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dataset_manifest.json (36 regions, 13,033 accepted tiles, 1,979 rejected tiles, regional split); resolved_config.yaml.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history.csv and latest_metrics.json. Best mIoU occurs at epoch 18. Final metrics are reported at epoch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Measured evidence: dataset_stats.json and latest_metrics.json. The proposed causes after class imbalance are explicitly hypotheses for future diagnostic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based on completed experiment artifacts. Planned modules have not yet been represented as completed 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d05aa71d844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9ed516b164b91" /><Relationship Type="http://schemas.openxmlformats.org/officeDocument/2006/relationships/slideLayout" Target="/ppt/slideLayouts/slideLayout1.xml" Id="R7a930e09f4004a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30e09f4004a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e9fb824a0c43d1" /><Relationship Type="http://schemas.openxmlformats.org/officeDocument/2006/relationships/notesSlide" Target="/ppt/notesSlides/notesSlide1.xml" Id="R2a330de7deaf4d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762cf7fa34965" /><Relationship Type="http://schemas.openxmlformats.org/officeDocument/2006/relationships/notesSlide" Target="/ppt/notesSlides/notesSlide2.xml" Id="R0bce582f9cc043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8ccb23bb847c8" /><Relationship Type="http://schemas.openxmlformats.org/officeDocument/2006/relationships/notesSlide" Target="/ppt/notesSlides/notesSlide3.xml" Id="Ra2effa83717c4f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ab0d2d1de4d37" /><Relationship Type="http://schemas.openxmlformats.org/officeDocument/2006/relationships/notesSlide" Target="/ppt/notesSlides/notesSlide4.xml" Id="Rb94da1a1aee54e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34af2a8364a51" /><Relationship Type="http://schemas.openxmlformats.org/officeDocument/2006/relationships/notesSlide" Target="/ppt/notesSlides/notesSlide5.xml" Id="Reb00e00b8dde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f8a696a1f4565" /><Relationship Type="http://schemas.openxmlformats.org/officeDocument/2006/relationships/notesSlide" Target="/ppt/notesSlides/notesSlide6.xml" Id="R7e1a0029666846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2fcc5a014d41f9" /><Relationship Type="http://schemas.openxmlformats.org/officeDocument/2006/relationships/chart" Target="/ppt/slides/charts/chart1.xml" Id="R8d1152833fee437b" /><Relationship Type="http://schemas.openxmlformats.org/officeDocument/2006/relationships/notesSlide" Target="/ppt/notesSlides/notesSlide7.xml" Id="Rba61f03b29f94c5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bf69d9fa0408a" /><Relationship Type="http://schemas.openxmlformats.org/officeDocument/2006/relationships/notesSlide" Target="/ppt/notesSlides/notesSlide8.xml" Id="Rd113bcfe115240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cbfaf984143dd" /><Relationship Type="http://schemas.openxmlformats.org/officeDocument/2006/relationships/notesSlide" Target="/ppt/notesSlides/notesSlide9.xml" Id="R9aae4596ce184a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Validation mIoU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7</c:v>
                </c:pt>
                <c:pt idx="3">
                  <c:v>10</c:v>
                </c:pt>
                <c:pt idx="4">
                  <c:v>13</c:v>
                </c:pt>
                <c:pt idx="5">
                  <c:v>16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28</c:v>
                </c:pt>
              </c:numCache>
            </c:num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0.4895</c:v>
                </c:pt>
                <c:pt idx="1">
                  <c:v>0.5144</c:v>
                </c:pt>
                <c:pt idx="2">
                  <c:v>0.5255</c:v>
                </c:pt>
                <c:pt idx="3">
                  <c:v>0.53</c:v>
                </c:pt>
                <c:pt idx="4">
                  <c:v>0.5404</c:v>
                </c:pt>
                <c:pt idx="5">
                  <c:v>0.5421</c:v>
                </c:pt>
                <c:pt idx="6">
                  <c:v>0.5475</c:v>
                </c:pt>
                <c:pt idx="7">
                  <c:v>0.5443</c:v>
                </c:pt>
                <c:pt idx="8">
                  <c:v>0.5425</c:v>
                </c:pt>
                <c:pt idx="9">
                  <c:v>0.5444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10BE4-3578-4A86-A97A-61A249A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5812D-2412-404F-AB8D-A79E9E6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19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561B0-2063-4982-9AAC-3E993FA9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49D40-2B0C-433E-95ED-B2F602F9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95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AstraGuard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AB9AA-014D-4F58-9231-19623E17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709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84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AI-powered satellite intelligence and disaster response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CB958-AE91-46FB-A5D6-1D843635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Mid-term project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67809-56BB-4859-A392-D8EB9D5C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 research module: land-cover segmentation from Sentinel-2 imagery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D2911D-3681-4A69-90D4-D90CC350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Prepared by: Group details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Supervisor: To be added</a:t>
            </a:r>
          </a:p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Department: To be added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49CFE-235E-406E-AF38-DC7682AA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81150"/>
            <a:ext cx="27432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Satellite data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Spatial learning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Actionable maps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BCD12E-D580-461B-A06E-801BE04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05300"/>
            <a:ext cx="2743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E71CF-EB42-4BB3-89B6-DE4606D9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Madhya Pradesh study area</a:t>
            </a:r>
          </a:p>
        </p:txBody>
      </p:sp>
    </p:spTree>
    <p:extLst>
      <p:ext uri="{BB962C8B-B14F-4D97-AF65-F5344CB8AC3E}">
        <p14:creationId xmlns:p14="http://schemas.microsoft.com/office/powerpoint/2010/main" val="485299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CEC42D-EC13-4DE5-A66F-2091F95C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Problem context and mid-term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3AD6C-BFAB-4E84-A5D2-39EA3637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5539E-AEB3-4255-9BC7-8A7B2930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1ACB8-B177-4DA6-89E5-CC652D84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Earth-observation imagery is rich, but manual interpretation delays land monitoring and emergency assessment.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229B1-5DE8-4F19-8FCB-DF03A51C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33337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0325B-00AC-421C-8A08-5A75A51C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AstraGuard vision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BA056-E244-4D0B-9273-B0685B71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72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platform that turns satellite imagery into land maps, change signals, disaster cues, and reports.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CA7C9-C70C-40DB-9387-741DB8BD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6810375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3196BE-1FCB-4329-80F7-2CDD7FF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Mid-term deliverable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93523-CB6E-41D6-A7BE-C43A26A0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5753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431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reproducible land-cover segmentation pipeline trained on Sentinel-2 imagery and ESA WorldCover labels across Madhya Pradesh.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6632C-88EC-41B1-93F0-D9FA3284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576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Inputs: 6 spectral bands  |  Output: pixel-level map with 6 classes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3334A6-9DEE-4678-B35F-5FB5A7C1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51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Land-cover segmentation is the first validated module. Object detection, change detection, disaster analysis, API, and dashboard remain planned work.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55007-EB9C-421C-A576-E2FC4AE8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brief and completed experiment configuration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E4490-F986-401A-BB3B-4920E531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2046809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C0C1E3-7790-4831-B5D5-48C17A0A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gap and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0188C-68CF-407A-A475-2DD70629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ED181-BA25-448B-9D33-80BB0F8B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7C5F4-5C21-4670-A919-CD167872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A2C41-96F3-4285-8839-1399C094F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44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How reliably can a six-band DeepLabV3+ model create pixel-level land-cover maps for geographically separated regions of Madhya Pradesh?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E06A41-438B-418F-9604-653F5EB9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4857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8EDC95-CCD8-4FA9-94ED-E44E2643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What available maps provide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60060-79D7-4D1B-A46A-DEB21F37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Land-cover labels and broad regional coverage. They are useful supervision sources, but they do not provide a project-specific model, local validation, or an operational delivery pipeline.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7652D-E150-4A8B-AFD9-487F4BA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00350"/>
            <a:ext cx="52387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B773D-6199-4D90-8235-D5DC39EC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AstraGuard contribution at mid-term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33F769-3365-474A-8902-D2B697464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 regional, reproducible workflow with cloud-aware data preparation, spatial train/validation/test separation, a deep segmentation baseline, and class-wise evaluation.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95250-CE7A-4905-90E7-39A81FAE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Research gap: reliable local evaluation is needed before a land-cover model can support later change and disaster modules.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6B06C-FCAC-45B1-B434-CEE324F1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ESA WorldCover product documentation; project experiment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DD074-628D-424D-BF55-AAD23624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3151001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FD3C3-CF6A-4CA5-AF11-C1EF6A1F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BE399-26B0-44FD-8781-DFD04016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0893B-AC47-48F3-A196-D889F623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06BDD-E2BB-441E-9E0C-0C6527F1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C4B56-178A-455D-964C-43D7C5F5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638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1. Build the data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AFEB7-1605-4691-BE82-40C34E1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621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Acquire Sentinel-2 imagery, remove unusable pixels, align ESA WorldCover labels, and tile the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00918-FDC7-4AA3-94FF-7CD18639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D9C81-2878-4920-B423-C9B06FD0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6383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2. Establish a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60103-0D0C-4945-9603-AD88552A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6215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Train a 6-band DeepLabV3+ ResNet-34 segmentation model with augmentation and mixed precision.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905CC-CD53-44A5-9573-0B9472CB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E07CD-F87F-49F3-BA50-83D39165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486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3. Evaluate honestly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87400-78FF-4D53-BA93-55A809DA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8100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Use geographically separated validation and test regions with mIoU, macro-F1, class IoU, and area error.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23334-3901-42B8-98F4-53FB3806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142875" cy="142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85B8F-75F5-47F4-8902-0ECB0BA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861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4. Prepare integration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EC68B-7463-4EA0-96DE-9A3A4953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100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Export maps and model artifacts for the AstraGuard backend, dashboard, and future change-analysis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CC284-3D18-4579-83A5-162B8BCB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Project objectives adapted to the implemented mid-term module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94C98-88E6-4586-90B5-A202E062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720679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D6CB5F-8986-4095-B66E-297D1AEC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Literature survey and baseline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47B7F-F26E-4710-B235-3D2B77F4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4F416-1AD4-4E59-9468-EACFDC92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04884-ED97-4595-90CA-5878486F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144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Existing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1BB6B-1833-4DC1-99F0-53A85106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14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Why it matters to AstraGuard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77B8B1-D2BB-483D-89FD-4475F93E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FF0FA-040E-4097-93FB-D018FE4D3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050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ESA WorldCover 2021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EAB2E-6AFC-402C-95FA-10B341D0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431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A176D-3459-4A4D-A8BE-5BD7EDD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859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10 m global land-cover labels used as supervision for the regional training workflow.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EECE8-40A3-4B58-A179-BBB62494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18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8BDF4-7326-4D68-980E-76FC015F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DeepLabV3+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DEBF2-613C-4A0E-AFD6-47E5581A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F8919-6AEA-41E7-8B85-022F44C8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146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Encoder-decoder segmentation with atrous spatial pyramid pooling. Selected for the baseline.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E0E0C-6E19-46AD-AA66-4BE5A73D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45910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0DCA2-E4F0-4868-8060-F3E29F9A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SegFormer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DB069-02C8-4EFA-A27E-A1B281F4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000500"/>
            <a:ext cx="54673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6BB9-303E-4D76-94A8-DF74808A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43375"/>
            <a:ext cx="485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Transformer segmentation architecture planned as the comparison model for the next experiment.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ACCE7-00C5-4508-B030-4EF44493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Current design choice: DeepLabV3+ ResNet-34 is a strong, interpretable baseline. The project will compare it with SegFormer before claiming a preferred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9928D-623D-434F-BA12-86744BA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Sources: Zanaga et al., 2022; Chen et al., 2018; Xie et al., 2021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55614-142E-45FB-9C6F-E2B0781F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2453638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71F4F-D568-44FA-BCB5-EE796E19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Methodology and work completed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EF7F1-E44B-4685-8911-C7AEAD96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65108-6B84-4D6C-863E-0B30367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9E1C3-9060-4EF2-86C4-BD9DD4DB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4F3DA-2E44-4B4E-9A71-F70E1FB1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Satellite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BCECA-1E33-46C7-8E12-665C197B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Sentinel-2, 2021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B02, B03, B04, B08, B11, B12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3DD8F-1D1F-402F-8CB8-B44380A5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C7E32-8091-4110-82B8-B3264C4F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1C67F-5093-4906-932E-A0DF9012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43809-9BD0-48D6-ACD0-CDD5FF51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62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Cloud-aware filtering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256 x 256 tiles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95% valid-pixel threshold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2F235-51FA-4C8A-BA57-55D0335C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C2BA44-0043-4799-84BB-321DAEB9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7D9A91-A738-4B25-BACD-5C6507DB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0A2FA-86A5-43C8-AE78-8D96DCE8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DeepLabV3+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ResNet-34 encoder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6 classes, 16 batch size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CFF24-0EAA-4D2E-A6E9-C8BCAE34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4D097-308F-4F5E-92C7-B2A18C40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932F7-EBF7-4543-B737-BBA91A9A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9C24F5-373F-4CC6-8117-6C089EA1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Geographic split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mIoU, macro-F1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class-wise IoU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7D7B5-1E99-4D7E-9C4F-0F7A01FB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2890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72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98671-BDA5-40B3-9AFC-035258FE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62150"/>
            <a:ext cx="1809750" cy="18669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2FF2A-9ACD-42C2-A90E-CADED070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DB9EAB-807A-42FB-B7E6-BB2B1453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14668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Checkpoints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metrics and logs</a:t>
            </a:r>
          </a:p>
          <a:p xmlns:a="http://schemas.openxmlformats.org/drawingml/2006/main">
            <a:pPr>
              <a:defRPr sz="12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reproducible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AE0D43-A188-4D97-82FA-A06AA523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Dataset outcome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B9978D-B8FE-488B-93B8-5B0E834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36 regions: 26 train, 5 validation, 5 test. 13,033 accepted tiles and 1,979 rejected tiles. Geographic separation limits direct tile leakage across splits.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B40682-480D-4FC1-8644-61FC6CB9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dataset_manifest.json and resolved_config.yaml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CA9E3-96A0-4F6B-B40B-4ECD3E39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797469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88B939-109D-417C-AEC3-5A3ED3BB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Preliminary validation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556A1-5426-4A3C-8E45-C98C4230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F7B04-E827-4BA3-BA93-5CFCD17E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E5DE4-D67D-43B0-9C31-A9DECB23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490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Best validation mIoU: 54.75% at epoch 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CAAEE-9475-4D16-A673-AA470378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623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Final epoch 28: 88.97% overall accuracy, 54.44% mIoU, 65.17% macro-F1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647700" y="2286000"/>
          <a:ext xmlns:a="http://schemas.openxmlformats.org/drawingml/2006/main" cx="5810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1152833fee437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712BC-55A5-4E7D-BCA1-D5BBD202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95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Class-wise validation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678A8-D146-40FC-AE3D-62F17A0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E57DE-C23D-4FAD-820E-7BEE92CF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8B68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995AC-C1F5-4BD4-9304-3ABC232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00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3D18F-0171-458A-AE5F-7C3FC1A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86.37%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57E9B6-35BC-4F24-AA95-BB24F746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193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D9A33-0642-49EB-989E-7A4663CB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336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7C04F-A38B-483C-BF96-36D6089C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95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Natural vegetation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E4115-0736-4E8A-ADBC-07035C53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955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68.48%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05386-F5C6-44D4-8C2F-701DBB61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146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C63EF-05D4-463C-9A0C-AF1D3E79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7C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9923F-652F-4105-AEFB-58B42904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90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F466DE-BC02-4A8F-BB02-323A11BF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908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70.83%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CE5A1-2E0A-4641-A4F0-C7742C8D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2F575-B2CD-4D1B-8925-964ED2BB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28961B-D102-4837-9D4E-59BB45D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86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Built-up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EFE51-2710-46CA-9609-9DCBAB72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861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63.33%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31841-EE50-4EE6-8BD1-9C0C0800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9052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BE787-0539-43FB-AAA0-27E29AD1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A23D0-ECDC-4B5C-8529-42DD591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81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Bare or sparse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515B47-ABE8-4CC0-8072-8540B0CA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35.43%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95AF5-4BAE-478E-A23F-EA07CF3C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00550"/>
            <a:ext cx="3695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83476B-E9FB-49D3-95B7-6062B9D9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C4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1438E-30E7-42EF-A6D3-23D092C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76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Other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303B15-B72B-43DB-A7E6-F8514C05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IoU 2.17%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777661-2C15-493C-BAD0-78B73DD0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mIoU and macro-F1 are more informative than overall accuracy because the classes are highly imbalanced.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9CCC70-413C-46F8-AE1E-17D21228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history.csv and latest_metrics.json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A288B3-7CDA-4E00-85C1-EA3C2499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1045474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DAD1C-1959-47AB-9158-6A3BC83A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Accuracy diagnosis and corrective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86FCF-05D5-4E2D-BA0A-FE88498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F81D7-AC4C-4084-8F86-AE10005E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672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708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E4735-AA7A-4B37-9429-3127F04E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D8602-EB3A-483A-BB12-0D188845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Why overall accuracy is high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02673-FF34-43BF-B761-8F274898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Agriculture accounts for 58.94% of pixels and natural vegetation for 37.70%. Together they cover 96.64% of labelled pixels.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A2696-ABD0-4493-A2E0-B01FB81C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871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rare “other” class has 2,195 pixels, or 0.00034% of the data. It has F1 4.25% and IoU 2.17%.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4CAE7-4268-4F17-9366-65D72F98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390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94C4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4C4C"/>
                </a:solidFill>
                <a:latin typeface="Aptos"/>
                <a:ea typeface="Aptos"/>
                <a:cs typeface="Aptos"/>
              </a:rPr>
              <a:t>Largest confusion: natural vegetation predicted as agriculture: 7.48 million pixels.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24FF9-907A-4192-A96B-45DFCD13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09700"/>
            <a:ext cx="53149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9F2F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FB427-B00E-4DBC-B2F5-DB0A0996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Next experiments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A8A3B-F3E9-4C8E-A481-FB9CC16D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28850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5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1. Stratify tiles and oversample rare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2. Tune focal or class-balanced loss and revise class weights.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3. Compare DeepLabV3+ with SegFormer under the same geographic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A43"/>
                </a:solidFill>
                <a:latin typeface="Aptos"/>
                <a:ea typeface="Aptos"/>
                <a:cs typeface="Aptos"/>
              </a:rPr>
              <a:t>4. Inspect label boundaries and seasonal spectral confusion.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F1F344-CB1A-43F6-B988-D5E5375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1049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881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1F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33"/>
                </a:solidFill>
                <a:latin typeface="Aptos"/>
                <a:ea typeface="Aptos"/>
                <a:cs typeface="Aptos"/>
              </a:rPr>
              <a:t>Interpretation: class imbalance is directly measured. The spectral-similarity and label-boundary explanations are hypotheses to test in the next experiment.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1C105F-F386-46F1-8E0C-F87F90A4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Source: dataset_stats.json and latest_metrics.json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63204-DFF3-4012-B500-CC07E62A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4579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B708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7083"/>
                </a:solidFill>
                <a:latin typeface="Aptos"/>
                <a:ea typeface="Aptos"/>
                <a:cs typeface="Aptos"/>
              </a:rPr>
              <a:t>AstraGuard | Mid-term Review</a:t>
            </a:r>
          </a:p>
        </p:txBody>
      </p:sp>
    </p:spTree>
    <p:extLst>
      <p:ext uri="{BB962C8B-B14F-4D97-AF65-F5344CB8AC3E}">
        <p14:creationId xmlns:p14="http://schemas.microsoft.com/office/powerpoint/2010/main" val="5599143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549BF-4681-4959-829F-767AB5B3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6750"/>
            <a:ext cx="800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 and 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39B4A-074D-4FBA-9A1D-5FE7728A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723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F4EB5-73A5-403A-B0A4-180BEB1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10325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333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The land-cover module now has a reproducible regional dataset, training pipeline, and geographically separated validation. The current DeepLabV3+ baseline reaches 54.75% validation mIoU and exposes clear class-imbalance limits to address.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41436-008C-4D9F-B136-06680642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66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88190-6456-4080-B711-D75836C7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8B68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68B684"/>
                </a:solidFill>
                <a:latin typeface="Aptos"/>
                <a:ea typeface="Aptos"/>
                <a:cs typeface="Aptos"/>
              </a:rPr>
              <a:t>Before final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FDB67-CA08-4C80-9FF4-FF0EF01C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the balanced-loss and SegFormer comparison, inspect class errors by region, then integrate the validated map output into the AstraGuard API and dashboard.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7B3A3-1A87-40DC-88C1-113517AC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429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107EA-0CC8-4754-8EA9-1D11E143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6E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E6EE"/>
                </a:solidFill>
                <a:latin typeface="Aptos"/>
                <a:ea typeface="Aptos"/>
                <a:cs typeface="Aptos"/>
              </a:rPr>
              <a:t>Questions and supervisor feedback</a:t>
            </a:r>
          </a:p>
        </p:txBody>
      </p:sp>
    </p:spTree>
    <p:extLst>
      <p:ext uri="{BB962C8B-B14F-4D97-AF65-F5344CB8AC3E}">
        <p14:creationId xmlns:p14="http://schemas.microsoft.com/office/powerpoint/2010/main" val="1401553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2026-09-27T09:21:14.8880000Z</dcterms:created>
  <dcterms:modified xsi:type="dcterms:W3CDTF">2026-09-27T09:21:14.8880000Z</dcterms:modified>
</coreProperties>
</file>