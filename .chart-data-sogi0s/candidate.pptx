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2f44b398140dc" /><Relationship Type="http://schemas.openxmlformats.org/officeDocument/2006/relationships/extended-properties" Target="/docProps/app.xml" Id="R66dd141fbccd44b0" /><Relationship Type="http://schemas.openxmlformats.org/officeDocument/2006/relationships/officeDocument" Target="/ppt/presentation.xml" Id="R5a59913f875e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fc16f5d0a49d1"/>
  </p:sldMasterIdLst>
  <p:notesMasterIdLst>
    <p:notesMasterId xmlns:r="http://schemas.openxmlformats.org/officeDocument/2006/relationships" r:id="R855a87225eaa4c1d"/>
  </p:notesMasterIdLst>
  <p:sldIdLst>
    <p:sldId xmlns:r="http://schemas.openxmlformats.org/officeDocument/2006/relationships" id="256" r:id="R09f39136ff6548e0"/>
    <p:sldId xmlns:r="http://schemas.openxmlformats.org/officeDocument/2006/relationships" id="257" r:id="Ra3458bd95f544582"/>
    <p:sldId xmlns:r="http://schemas.openxmlformats.org/officeDocument/2006/relationships" id="258" r:id="Rd50a139c18434398"/>
    <p:sldId xmlns:r="http://schemas.openxmlformats.org/officeDocument/2006/relationships" id="259" r:id="Re73a819c0de14702"/>
    <p:sldId xmlns:r="http://schemas.openxmlformats.org/officeDocument/2006/relationships" id="260" r:id="R8e29e57e3dbf420e"/>
    <p:sldId xmlns:r="http://schemas.openxmlformats.org/officeDocument/2006/relationships" id="261" r:id="Rc338243a70dd4a46"/>
    <p:sldId xmlns:r="http://schemas.openxmlformats.org/officeDocument/2006/relationships" id="262" r:id="R76e5a0e93ddb4058"/>
    <p:sldId xmlns:r="http://schemas.openxmlformats.org/officeDocument/2006/relationships" id="263" r:id="R66f2b657aa754f47"/>
    <p:sldId xmlns:r="http://schemas.openxmlformats.org/officeDocument/2006/relationships" id="264" r:id="R30065c7b6d444a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c79238575437c" /><Relationship Type="http://schemas.openxmlformats.org/officeDocument/2006/relationships/slideMaster" Target="/ppt/slideMasters/slideMaster1.xml" Id="R297fc16f5d0a49d1" /><Relationship Type="http://schemas.openxmlformats.org/officeDocument/2006/relationships/notesMaster" Target="/ppt/notesMasters/notesMaster1.xml" Id="R855a87225eaa4c1d" /><Relationship Type="http://schemas.openxmlformats.org/officeDocument/2006/relationships/presProps" Target="/ppt/presProps.xml" Id="Rdb0ed18326cb42b3" /><Relationship Type="http://schemas.openxmlformats.org/officeDocument/2006/relationships/tableStyles" Target="/ppt/tableStyles.xml" Id="Raf9f8443092e410d" /><Relationship Type="http://schemas.openxmlformats.org/officeDocument/2006/relationships/slide" Target="/ppt/slides/slide1.xml" Id="R09f39136ff6548e0" /><Relationship Type="http://schemas.openxmlformats.org/officeDocument/2006/relationships/slide" Target="/ppt/slides/slide2.xml" Id="Ra3458bd95f544582" /><Relationship Type="http://schemas.openxmlformats.org/officeDocument/2006/relationships/slide" Target="/ppt/slides/slide3.xml" Id="Rd50a139c18434398" /><Relationship Type="http://schemas.openxmlformats.org/officeDocument/2006/relationships/slide" Target="/ppt/slides/slide4.xml" Id="Re73a819c0de14702" /><Relationship Type="http://schemas.openxmlformats.org/officeDocument/2006/relationships/slide" Target="/ppt/slides/slide5.xml" Id="R8e29e57e3dbf420e" /><Relationship Type="http://schemas.openxmlformats.org/officeDocument/2006/relationships/slide" Target="/ppt/slides/slide6.xml" Id="Rc338243a70dd4a46" /><Relationship Type="http://schemas.openxmlformats.org/officeDocument/2006/relationships/slide" Target="/ppt/slides/slide7.xml" Id="R76e5a0e93ddb4058" /><Relationship Type="http://schemas.openxmlformats.org/officeDocument/2006/relationships/slide" Target="/ppt/slides/slide8.xml" Id="R66f2b657aa754f47" /><Relationship Type="http://schemas.openxmlformats.org/officeDocument/2006/relationships/slide" Target="/ppt/slides/slide9.xml" Id="R30065c7b6d444a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be05b374940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5801e84b44fb4" /><Relationship Type="http://schemas.openxmlformats.org/officeDocument/2006/relationships/notesMaster" Target="/ppt/notesMasters/notesMaster1.xml" Id="R8d6268ea0351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08fb1654744d86" /><Relationship Type="http://schemas.openxmlformats.org/officeDocument/2006/relationships/notesMaster" Target="/ppt/notesMasters/notesMaster1.xml" Id="R025037f00fb6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2fe85d6eaa4ad3" /><Relationship Type="http://schemas.openxmlformats.org/officeDocument/2006/relationships/notesMaster" Target="/ppt/notesMasters/notesMaster1.xml" Id="R125da36c9fdb4e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ec33d3bd9045d7" /><Relationship Type="http://schemas.openxmlformats.org/officeDocument/2006/relationships/notesMaster" Target="/ppt/notesMasters/notesMaster1.xml" Id="Rf13874f616d5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980844dee4524" /><Relationship Type="http://schemas.openxmlformats.org/officeDocument/2006/relationships/notesMaster" Target="/ppt/notesMasters/notesMaster1.xml" Id="Raa06ed6e479d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de4efafb65457f" /><Relationship Type="http://schemas.openxmlformats.org/officeDocument/2006/relationships/notesMaster" Target="/ppt/notesMasters/notesMaster1.xml" Id="Rc933fdb0238e4c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c5f8e584d4a7a" /><Relationship Type="http://schemas.openxmlformats.org/officeDocument/2006/relationships/notesMaster" Target="/ppt/notesMasters/notesMaster1.xml" Id="Rdee4d6aa2edd41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3c84de5f3f453a" /><Relationship Type="http://schemas.openxmlformats.org/officeDocument/2006/relationships/notesMaster" Target="/ppt/notesMasters/notesMaster1.xml" Id="R9ec1c9c1b6b54c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f22853f9624691" /><Relationship Type="http://schemas.openxmlformats.org/officeDocument/2006/relationships/notesMaster" Target="/ppt/notesMasters/notesMaster1.xml" Id="R65941431ceb2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supplied by the team. Replace the three title-slide identity fields before supervisor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is based on the project brief supplied by the team and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ESA WorldCover 10 m 2021 documentation (https://esa-worldcover.org/en/data-access); internal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project brief, constrained to the current completed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Zanaga et al., ESA WorldCover 10 m 2020 v100 and 2021 v200. Earth System Science Data, 2022. Chen et al., Encoder-Decoder with Atrous Separable Convolution for Semantic Image Segmentation, ECCV 2018. Xie et al., SegFormer, NeurIPS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dataset_manifest.json (36 regions, 13,033 accepted tiles, 1,979 rejected tiles, regional split);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history.csv and latest_metrics.json. Best mIoU occurs at epoch 18. Final metrics are reported at epoch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evidence: dataset_stats.json and latest_metrics.json. The proposed causes after class imbalance are explicitly hypotheses for future diagnostic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completed experiment artifacts. Planned modules have not yet been represented as completed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0fd8dfb72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381d9c74c4e97" /><Relationship Type="http://schemas.openxmlformats.org/officeDocument/2006/relationships/slideLayout" Target="/ppt/slideLayouts/slideLayout1.xml" Id="R02790500aac3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90500aac3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839203ca64055" /><Relationship Type="http://schemas.openxmlformats.org/officeDocument/2006/relationships/notesSlide" Target="/ppt/notesSlides/notesSlide1.xml" Id="R22c5d246ed1d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cd48c10af41a2" /><Relationship Type="http://schemas.openxmlformats.org/officeDocument/2006/relationships/notesSlide" Target="/ppt/notesSlides/notesSlide2.xml" Id="R487a8ea85428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2c972147c4ab0" /><Relationship Type="http://schemas.openxmlformats.org/officeDocument/2006/relationships/notesSlide" Target="/ppt/notesSlides/notesSlide3.xml" Id="Ra0a18ba6cab6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590c5a7946d1" /><Relationship Type="http://schemas.openxmlformats.org/officeDocument/2006/relationships/notesSlide" Target="/ppt/notesSlides/notesSlide4.xml" Id="R5d8fe5bdf431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af68ac553424c" /><Relationship Type="http://schemas.openxmlformats.org/officeDocument/2006/relationships/notesSlide" Target="/ppt/notesSlides/notesSlide5.xml" Id="R453b4011462b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7ac28de4c495f" /><Relationship Type="http://schemas.openxmlformats.org/officeDocument/2006/relationships/notesSlide" Target="/ppt/notesSlides/notesSlide6.xml" Id="R3514e8d991794f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1c1c31a924b20" /><Relationship Type="http://schemas.openxmlformats.org/officeDocument/2006/relationships/chart" Target="/ppt/slides/charts/chart1.xml" Id="R862a711ed33445e1" /><Relationship Type="http://schemas.openxmlformats.org/officeDocument/2006/relationships/notesSlide" Target="/ppt/notesSlides/notesSlide7.xml" Id="Rf814347dd88245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a08edd10d4713" /><Relationship Type="http://schemas.openxmlformats.org/officeDocument/2006/relationships/notesSlide" Target="/ppt/notesSlides/notesSlide8.xml" Id="Rf82124ed233a41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4ea33da74985" /><Relationship Type="http://schemas.openxmlformats.org/officeDocument/2006/relationships/notesSlide" Target="/ppt/notesSlides/notesSlide9.xml" Id="Rf300abbab03042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Validation mIoU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28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0.4895</c:v>
                </c:pt>
                <c:pt idx="1">
                  <c:v>0.5144</c:v>
                </c:pt>
                <c:pt idx="2">
                  <c:v>0.5255</c:v>
                </c:pt>
                <c:pt idx="3">
                  <c:v>0.53</c:v>
                </c:pt>
                <c:pt idx="4">
                  <c:v>0.5404</c:v>
                </c:pt>
                <c:pt idx="5">
                  <c:v>0.5421</c:v>
                </c:pt>
                <c:pt idx="6">
                  <c:v>0.5475</c:v>
                </c:pt>
                <c:pt idx="7">
                  <c:v>0.5443</c:v>
                </c:pt>
                <c:pt idx="8">
                  <c:v>0.5425</c:v>
                </c:pt>
                <c:pt idx="9">
                  <c:v>0.5444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4836A-9FCA-4AC6-93F4-B174E2CB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0C534-AD40-4F40-80C6-8600F4CB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CAC70-7445-43F3-BCDD-A88BBAC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E877-3E99-4212-889A-3A6BAD2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AstraGuard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A5EE7-2140-4936-95D3-2D51024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09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84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AI-powered satellite intelligence and disaster response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A1CF6-7E68-4190-AD3B-A1B65691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Mid-term project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4EB04-DE60-4317-9E79-514FF976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research module: land-cover segmentation from Sentinel-2 imagery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3D10A-04C7-459C-B918-C52C8E7E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Prepared by: Group details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Supervisor: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Department: To be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65225-C33C-42FA-B7F1-6DA4ED0E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743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Satellite data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Spatial learning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Actionable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09215-F4D1-4632-A20A-75C69B3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74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7091-477E-44D3-A7CA-4453CE6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Madhya Pradesh study area</a:t>
            </a:r>
          </a:p>
        </p:txBody>
      </p:sp>
    </p:spTree>
    <p:extLst>
      <p:ext uri="{BB962C8B-B14F-4D97-AF65-F5344CB8AC3E}">
        <p14:creationId xmlns:p14="http://schemas.microsoft.com/office/powerpoint/2010/main" val="469764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1EEE0-E387-40FF-83E5-0E683240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context and mid-term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D7BA0-5B5E-4698-8E56-EA3ADBD4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F059E-3B77-45DD-BBB8-048A449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C215-93B1-4A8F-931F-69EB6D0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Earth-observation imagery is rich, but manual interpretation delays land monitoring and emergency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99350-6352-4B47-8AE5-3DC9073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849B0-EBA7-4515-BB2C-FFF2839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AstraGuard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8DEA7-EA09-4094-B6DE-C45645F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platform that turns satellite imagery into land maps, change signals, disaster cues,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C6DD5-69A7-4D0B-A40A-AE78A63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8103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07A2A-E028-47A2-BBB1-194EE43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Mid-term deliverable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0BB10-52EE-4EDE-A14A-48DC632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75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land-cover segmentation pipeline trained on Sentinel-2 imagery and ESA WorldCover labels across Madhya Pradesh.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A3F12-99F6-4A30-8CBE-E4A1289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Inputs: 6 spectral bands  |  Output: pixel-level map with 6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A2D51-3039-48D1-886D-C3ECDAF4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Land-cover segmentation is the first validated module. Object detection, change detection, disaster analysis, API, and dashboard remain planned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B7EBC-F962-4E61-8F14-AC92CA0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brief and completed experiment 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BFD13-997C-472C-B020-C090D43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91139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8B5CB-49F1-43E6-AA89-5CBB2704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statement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A37A5-BE49-475C-B93A-441469A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B284A-7F8E-4CF7-9D9C-242A431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EBC54-C44D-4452-B743-DAA96585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4610B-E29F-49A7-8584-2F91753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reliably can a six-band DeepLabV3+ model create pixel-level land-cover maps for geographically separated regions of Madhya Pradesh?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09629-E73A-4511-B877-0D259E9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857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08FC8-18CF-4981-B410-9A0AB410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available maps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CD430-9370-4967-AF91-A1EFF40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Land-cover labels and broad regional coverage. They are useful supervision sources, but they do not provide a project-specific model, local validation, or an operational delivery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C47E8-34DA-4C14-B333-73B797E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5238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3FA09-DB3E-49CE-B2D3-2C191495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AstraGuard contribution at mid-term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AA758-1CEA-41E0-8331-DEAFCBF3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regional, reproducible workflow with cloud-aware data preparation, spatial train/validation/test separation, a deep segmentation baseline, and class-wise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F1C39-0FA9-4FFE-B014-B48BB39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gap: reliable local evaluation is needed before a land-cover model can support later change and disaster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3AD18-0F0F-4170-89A4-EABDBD3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ESA WorldCover product documentation; project experiment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987AD-9FA3-4799-BB4D-DEB922D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95830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3E940-E289-4D82-ADF1-742E515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0FF1E-62A9-4EBA-87EE-828ED47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FB9DF-62E1-41D7-804B-4C098C85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D284-0B86-4328-A3FA-88DC7895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69EFF-B848-4874-A7EF-78CDBA3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Build the data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0474C-2D00-4807-9D2A-5908F76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85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Acquire Sentinel-2 imagery, remove unusable pixels, align ESA WorldCover labels, and tile the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320E9-5975-42A4-A82C-C2EE3985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D69F6-F5BD-41EC-8ED2-91DC5E5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38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Establish a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32A6F-E01F-46C5-88C8-E150237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5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Train a 6-band DeepLabV3+ ResNet-34 segmentation model with augmentation and mixed precision.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84B51-EDBE-45B0-AB02-BE0FB2A2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B648F-34AE-44BE-8102-5078D55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Evaluate honestly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CC082-B150-40D9-812D-D4EA1A5C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33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Use geographically separated validation and test regions with mIoU, macro-F1, class IoU, and area error.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1D2AA-CBBF-482F-944C-1EBEC887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876F5-9CEB-4B25-8257-CEA51CAA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Prepare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B28E7-D34E-4AB0-BDDD-BD0F0AAE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33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Export maps and model artifacts for the AstraGuard backend, dashboard, and future change-analysis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5F11C-B5CB-479C-975A-E18C3C8E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objectives adapted to the implemented mid-term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0F916-2418-4CFF-A01A-3DB0DE9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859922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4BE86-A936-412C-8B64-6ED75674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Literature survey and baseline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7582-40B1-4E47-8060-2B88D81B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CA2B-F810-4AEC-8ABB-809AFC7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71F8B-9929-43A8-9FFB-94FF32C9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Existing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5F81A-270D-490B-AF2B-067D92D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14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Why it matters to AstraGuard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CDB5F-EF99-45B7-971A-2DF0FD18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39B1A-7257-499E-8145-5F40A8E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ESA WorldCover 2021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5747F-835F-4FBA-A088-7C4680B1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72B49-B735-4855-9971-CFC4125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10 m global land-cover labels used as supervision for the regional training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3571A-8461-471E-9927-431DB18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56783-2C17-4357-882D-F829D42B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DeepLabV3+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9DB5D-ABA0-4251-9798-C6F5B26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54FCA-1ECD-439D-A980-6C1F59A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146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Encoder-decoder segmentation with atrous spatial pyramid pooling. Selected for the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01DB3-49A5-4FC6-9914-85092952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2F25A-ED36-485A-A63C-862574E2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SegFormer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231BC-B13F-404D-990E-0EED1D03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34EE9-98D6-49AF-986B-51090C85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43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Transformer segmentation architecture planned as the comparison model for the next experiment.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C6A57-16FF-4329-964C-588A312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Current design choice: DeepLabV3+ ResNet-34 is a strong, interpretable baseline. The project will compare it with SegFormer before claiming a preferred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87776-E79B-432B-8C26-8FE7DE5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Zanaga et al., 2022; Chen et al., 2018; Xie et al., 2021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FA25C-4B56-4B8E-ACD8-B6295C4D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633044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8A827-837D-4B56-9912-7183AC5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Methodology and work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F8E94-185E-4991-8541-E0CC81C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540C0-1513-4923-AA75-24B3B177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3D0F6-B9E3-441F-9E64-65DE16BD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7AF95-5FEA-464B-B77B-5B025DB6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Satellite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8D9A6-108E-460D-9C1E-23CE40F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Sentinel-2, 2021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B02, B03, B04, B08, B11, B12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78917-248D-44F7-B7BA-CD11CEE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805CA-86D0-413D-9882-60E5CD1A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B103F-8D6E-4249-838D-125B4A8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C6703-F3B1-4659-BE0C-156E25B5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Cloud-aware filtering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256 x 256 tiles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95% valid-pixel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0A421-7401-47E5-8CDE-94F1C107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85E4-7913-4EF0-91FC-4B7A8B6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CEEA3-C664-4231-B028-B89C3A0D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8C087-AC51-4956-AE90-0A5550F3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DeepLabV3+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ResNet-34 encoder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 classes, 16 batch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FA495-C9D4-4AF3-8D84-6CED2EA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3D296-DE11-45F5-B261-2D3938D6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96755-120C-4423-A84E-EC6DC531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19A21-3925-405C-9954-FFFD5C9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Geographic split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mIoU, macro-F1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class-wise IoU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5B801-0A8F-4DBF-963C-09B4B0E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C5930-BF86-4789-8245-83C6BD5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4E655-10F5-4EC0-9104-4A8B657B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30D8F-C7D7-4BCD-A4FD-B41D9648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Checkpoints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metrics and logs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reproducible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038F0-AA1F-4D24-9752-E620542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Dataset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75F23-14B1-4F9A-8001-AD880F4E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36 regions: 26 train, 5 validation, 5 test. 13,033 accepted tiles and 1,979 rejected tiles. Geographic separation limits direct tile leakage across splits.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F8AC9-C003-48AB-96E5-DCABAFF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dataset_manifest.json and resolved_config.yaml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A2E38-E143-469B-B524-35E2560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393793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11819-B199-4CAB-A6DB-5624CD01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Preliminary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344C9-8E7A-40C6-BC43-319844FC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29085-15D6-40C9-8FF4-E31A365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9DD9A-073E-4A75-89A2-00B2E5BC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validation mIoU: 54.75% at epoch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881C2-274A-4347-8AC1-617154B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Final epoch 28: 88.97% overall accuracy, 54.44% mIoU, 65.17% macro-F1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47700" y="228600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2a711ed33445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1689-DF6B-4585-924D-7451274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95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Class-wise validation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7EBC1-BFCA-4B07-85F7-CCC36CB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83839-0968-41A7-824E-2C87890F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40945-110E-41C0-8BAF-8426602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9D5E8-26AE-4FD9-9658-5FB29AC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86.37%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735AE-FC38-441B-90E3-68AF8567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66E1C-F238-4A65-9DA1-E1E62C1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1E3E0-EC07-43C7-92E4-83535E5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Natural vegetation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F3BE5-B01A-4423-B482-D15CCDE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68.48%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95657-7E56-415B-B43E-D0CDE6F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DECA2-A2B5-47C0-B7A3-E912B95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0B60E-9B9E-4738-8170-293E8A92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5F4A-D316-47BA-A6DC-4C6E7D08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70.83%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6F20B-05C4-4041-81FB-1CEC0481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050C0-CB1A-4FAB-80E6-3FF2E9D8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391A9-6665-4A93-9B1F-32C151B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Built-up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E9A76-AB91-4B27-85E3-A81421B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63.33%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B9CB9-5087-4FE4-944F-EB76D91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4A905-26A6-419F-936F-A342D478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3C313-D62F-42E3-AA31-5BB8502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81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Bare or sparse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427C5-45C2-419B-AA28-05684B61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35.43%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21F07-D8D3-4647-A6F3-E122AFF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F3B886-B67D-48D1-AB5D-9AD949C8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C8F57-3B66-4523-9787-542BAFE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5F676-EDA9-47CE-955F-4EAB48CA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2.17%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B7378-F078-46DC-B865-FD5AEE5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mIoU and macro-F1 are more informative than overall accuracy because the classes are highly imbalanced.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10F1A-A54B-453C-A3A4-8D856F8D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history.csv and latest_metrics.json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C1583-AE22-4EDE-9DD7-92BE3958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316616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64893-715A-42CB-ABA9-2014B05C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Accuracy diagnosis and corrective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BBC25-B19B-4AB6-AB9F-AFDE17C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39743-4C9C-4492-863D-9CB6266B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A3DF3-7716-40AB-AD4B-14D10ED8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983D5-5CEB-44BD-A702-DE49590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overall accuracy is 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ADA87-E8AE-4C3C-A8FD-7D93B3D1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 accounts for 58.94% of pixels and natural vegetation for 37.70%. Together they cover 96.64% of labelled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C6D86-D7AC-48F7-AB69-04C980E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rare “other” class has 2,195 pixels, or 0.00034% of the data. It has F1 4.25% and IoU 2.17%.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5D1D4-8350-409C-A2E6-381F6C4A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Largest confusion: natural vegetation predicted as agriculture: 7.48 million pixels.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83224-6AD5-4FB5-AF26-2F2C6C70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09700"/>
            <a:ext cx="53149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A7F0-F612-4493-84BB-8B657CA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22556-22DF-406F-8AFA-CE4807A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5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Stratify tiles and oversample rare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Tune focal or class-balanced loss and revise class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Compare DeepLabV3+ with SegFormer under the same geographic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Inspect label boundaries and seasonal spectral confusion.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C4218-39B2-402C-9BFD-CB1BDD3D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Interpretation: class imbalance is directly measured. The spectral-similarity and label-boundary explanations are hypotheses to test in the next experiment.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6F830-3469-4505-9D3C-7727A3E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dataset_stats.json and latest_metrics.json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051AB-EBBF-4278-86B3-8CB0EFF0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522861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89921-0EDB-4CE2-B6B2-ED1DD19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6CB0B-0F7C-4A6E-8492-277A08A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3E2C-6A7B-4A22-934D-BC26190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32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The land-cover module now has a reproducible regional dataset, training pipeline, and geographically separated validation. The current DeepLabV3+ baseline reaches 54.75% validation mIoU and exposes clear class-imbalance limits to address.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AA488-5E35-434A-994A-1ECBFAA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6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6154-9D7E-4FF9-A420-EB0D29D3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Before 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091D5-8E71-4FB9-BE90-546F0BE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balanced-loss and SegFormer comparison, inspect class errors by region, then integrate the validated map output into the AstraGuard API and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DAAFD-64F0-47AF-9490-326CE15E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F0FF7-F02C-4EF0-A46E-85D4B391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Questions and supervisor feedback</a:t>
            </a:r>
          </a:p>
        </p:txBody>
      </p:sp>
    </p:spTree>
    <p:extLst>
      <p:ext uri="{BB962C8B-B14F-4D97-AF65-F5344CB8AC3E}">
        <p14:creationId xmlns:p14="http://schemas.microsoft.com/office/powerpoint/2010/main" val="10065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2026-09-27T09:18:45.1000000Z</dcterms:created>
  <dcterms:modified xsi:type="dcterms:W3CDTF">2026-09-27T09:18:45.1000000Z</dcterms:modified>
</coreProperties>
</file>